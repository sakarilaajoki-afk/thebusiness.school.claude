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914400"/>
            <a:ext cx="11277295" cy="105156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51560"/>
            <a:ext cx="10728655" cy="914400"/>
          </a:xfrm>
          <a:prstGeom prst="rect">
            <a:avLst/>
          </a:prstGeom>
          <a:noFill/>
        </p:spPr>
        <p:txBody>
          <a:bodyPr wrap="square">
            <a:spAutoFit/>
          </a:bodyPr>
          <a:lstStyle/>
          <a:p>
            <a:pPr algn="l">
              <a:spcAft>
                <a:spcPts val="700"/>
              </a:spcAft>
            </a:pPr>
            <a:r>
              <a:rPr sz="3200" b="1">
                <a:solidFill>
                  <a:srgbClr val="FFFFFF"/>
                </a:solidFill>
                <a:latin typeface="Arial"/>
              </a:rPr>
              <a:t>A-LEVEL BUSINESS: EVALUATION</a:t>
            </a:r>
          </a:p>
        </p:txBody>
      </p:sp>
      <p:sp>
        <p:nvSpPr>
          <p:cNvPr id="4" name="TextBox 3"/>
          <p:cNvSpPr txBox="1"/>
          <p:nvPr/>
        </p:nvSpPr>
        <p:spPr>
          <a:xfrm>
            <a:off x="731520" y="2240280"/>
            <a:ext cx="10728655" cy="1463040"/>
          </a:xfrm>
          <a:prstGeom prst="rect">
            <a:avLst/>
          </a:prstGeom>
          <a:noFill/>
        </p:spPr>
        <p:txBody>
          <a:bodyPr wrap="square">
            <a:spAutoFit/>
          </a:bodyPr>
          <a:lstStyle/>
          <a:p>
            <a:pPr algn="l">
              <a:spcAft>
                <a:spcPts val="700"/>
              </a:spcAft>
            </a:pPr>
            <a:r>
              <a:rPr sz="3000" b="1">
                <a:solidFill>
                  <a:srgbClr val="111111"/>
                </a:solidFill>
                <a:latin typeface="Arial"/>
              </a:rPr>
              <a:t>Which sentence earns which mark</a:t>
            </a:r>
          </a:p>
          <a:p>
            <a:pPr algn="l">
              <a:spcAft>
                <a:spcPts val="700"/>
              </a:spcAft>
            </a:pPr>
            <a:r>
              <a:rPr sz="2000" b="0">
                <a:solidFill>
                  <a:srgbClr val="6B6B6B"/>
                </a:solidFill>
                <a:latin typeface="Arial"/>
              </a:rPr>
              <a:t>AQA 7132 and Edexcel 9BS0. Four lessons, three annotated model answers.</a:t>
            </a:r>
          </a:p>
        </p:txBody>
      </p:sp>
      <p:sp>
        <p:nvSpPr>
          <p:cNvPr id="5" name="TextBox 4"/>
          <p:cNvSpPr txBox="1"/>
          <p:nvPr/>
        </p:nvSpPr>
        <p:spPr>
          <a:xfrm>
            <a:off x="731520" y="3931920"/>
            <a:ext cx="10728655" cy="1828800"/>
          </a:xfrm>
          <a:prstGeom prst="rect">
            <a:avLst/>
          </a:prstGeom>
          <a:noFill/>
        </p:spPr>
        <p:txBody>
          <a:bodyPr wrap="square">
            <a:spAutoFit/>
          </a:bodyPr>
          <a:lstStyle/>
          <a:p>
            <a:pPr algn="l">
              <a:spcAft>
                <a:spcPts val="700"/>
              </a:spcAft>
            </a:pPr>
            <a:r>
              <a:rPr sz="1800" b="0">
                <a:solidFill>
                  <a:srgbClr val="111111"/>
                </a:solidFill>
                <a:latin typeface="Arial"/>
              </a:rPr>
              <a:t>These slides are fully editable. Change the wording, the timings, the business, anything.</a:t>
            </a:r>
          </a:p>
          <a:p>
            <a:pPr algn="l">
              <a:spcAft>
                <a:spcPts val="700"/>
              </a:spcAft>
            </a:pPr>
            <a:r>
              <a:rPr sz="1800" b="0">
                <a:solidFill>
                  <a:srgbClr val="111111"/>
                </a:solidFill>
                <a:latin typeface="Arial"/>
              </a:rPr>
              <a:t>Every model answer is broken into numbered sentences so students can see which one did the work.</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Author: Sakari Laajoki, TBS Education Ltd Oy (company number 3614159-3)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03504"/>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603504"/>
          </a:xfrm>
          <a:prstGeom prst="rect">
            <a:avLst/>
          </a:prstGeom>
          <a:noFill/>
        </p:spPr>
        <p:txBody>
          <a:bodyPr wrap="square">
            <a:spAutoFit/>
          </a:bodyPr>
          <a:lstStyle/>
          <a:p>
            <a:pPr algn="l">
              <a:spcAft>
                <a:spcPts val="700"/>
              </a:spcAft>
            </a:pPr>
            <a:r>
              <a:rPr sz="2400" b="1">
                <a:solidFill>
                  <a:srgbClr val="FFFFFF"/>
                </a:solidFill>
                <a:latin typeface="Arial"/>
              </a:rPr>
              <a:t>THE FOUR ASSESSMENT OBJECTIVES</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1800" b="0">
                <a:solidFill>
                  <a:srgbClr val="111111"/>
                </a:solidFill>
                <a:latin typeface="Arial"/>
              </a:rPr>
              <a:t>AO1  Knowledge.  A term used correctly, a concept named, a formula stated.</a:t>
            </a:r>
          </a:p>
          <a:p>
            <a:pPr algn="l">
              <a:spcAft>
                <a:spcPts val="700"/>
              </a:spcAft>
            </a:pPr>
            <a:r>
              <a:rPr sz="1800" b="0">
                <a:solidFill>
                  <a:srgbClr val="111111"/>
                </a:solidFill>
                <a:latin typeface="Arial"/>
              </a:rPr>
              <a:t>AO2  Application.  The point is tied to this business, using its figures, its market or its situation.</a:t>
            </a:r>
          </a:p>
          <a:p>
            <a:pPr algn="l">
              <a:spcAft>
                <a:spcPts val="700"/>
              </a:spcAft>
            </a:pPr>
            <a:r>
              <a:rPr sz="1800" b="0">
                <a:solidFill>
                  <a:srgbClr val="111111"/>
                </a:solidFill>
                <a:latin typeface="Arial"/>
              </a:rPr>
              <a:t>AO3  Analysis.  A consequence followed through. Because this, therefore that, which means this for the business.</a:t>
            </a:r>
          </a:p>
          <a:p>
            <a:pPr algn="l">
              <a:spcAft>
                <a:spcPts val="700"/>
              </a:spcAft>
            </a:pPr>
            <a:r>
              <a:rPr sz="1800" b="0">
                <a:solidFill>
                  <a:srgbClr val="111111"/>
                </a:solidFill>
                <a:latin typeface="Arial"/>
              </a:rPr>
              <a:t>AO4  Evaluation.  A judgement, a weighing of one thing against another, a condition, or a supported decision.</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Both boards use these four.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03504"/>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603504"/>
          </a:xfrm>
          <a:prstGeom prst="rect">
            <a:avLst/>
          </a:prstGeom>
          <a:noFill/>
        </p:spPr>
        <p:txBody>
          <a:bodyPr wrap="square">
            <a:spAutoFit/>
          </a:bodyPr>
          <a:lstStyle/>
          <a:p>
            <a:pPr algn="l">
              <a:spcAft>
                <a:spcPts val="700"/>
              </a:spcAft>
            </a:pPr>
            <a:r>
              <a:rPr sz="2400" b="1">
                <a:solidFill>
                  <a:srgbClr val="FFFFFF"/>
                </a:solidFill>
                <a:latin typeface="Arial"/>
              </a:rPr>
              <a:t>THE METHOD, IN FIVE STEPS</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100" b="1">
                <a:solidFill>
                  <a:srgbClr val="111111"/>
                </a:solidFill>
                <a:latin typeface="Arial"/>
              </a:rPr>
              <a:t>1. Decide before you write.</a:t>
            </a:r>
          </a:p>
          <a:p>
            <a:pPr algn="l">
              <a:spcAft>
                <a:spcPts val="700"/>
              </a:spcAft>
            </a:pPr>
            <a:r>
              <a:rPr sz="2100" b="1">
                <a:solidFill>
                  <a:srgbClr val="111111"/>
                </a:solidFill>
                <a:latin typeface="Arial"/>
              </a:rPr>
              <a:t>2. Pick the criterion.</a:t>
            </a:r>
          </a:p>
          <a:p>
            <a:pPr algn="l">
              <a:spcAft>
                <a:spcPts val="700"/>
              </a:spcAft>
            </a:pPr>
            <a:r>
              <a:rPr sz="2100" b="1">
                <a:solidFill>
                  <a:srgbClr val="111111"/>
                </a:solidFill>
                <a:latin typeface="Arial"/>
              </a:rPr>
              <a:t>3. Build the strongest version of the case you are going to reject.</a:t>
            </a:r>
          </a:p>
          <a:p>
            <a:pPr algn="l">
              <a:spcAft>
                <a:spcPts val="700"/>
              </a:spcAft>
            </a:pPr>
            <a:r>
              <a:rPr sz="2100" b="1">
                <a:solidFill>
                  <a:srgbClr val="111111"/>
                </a:solidFill>
                <a:latin typeface="Arial"/>
              </a:rPr>
              <a:t>4. Weigh with a number.</a:t>
            </a:r>
          </a:p>
          <a:p>
            <a:pPr algn="l">
              <a:spcAft>
                <a:spcPts val="700"/>
              </a:spcAft>
            </a:pPr>
            <a:r>
              <a:rPr sz="2100" b="1">
                <a:solidFill>
                  <a:srgbClr val="111111"/>
                </a:solidFill>
                <a:latin typeface="Arial"/>
              </a:rPr>
              <a:t>5. Attach the condition.</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Refer to these by number for the rest of the unit.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100" b="1">
                <a:solidFill>
                  <a:srgbClr val="FFFFFF"/>
                </a:solidFill>
                <a:latin typeface="Arial"/>
              </a:rPr>
              <a:t>1. DECIDE BEFORE YOU WRITE.</a:t>
            </a:r>
          </a:p>
        </p:txBody>
      </p:sp>
      <p:sp>
        <p:nvSpPr>
          <p:cNvPr id="4" name="Rectangle 3"/>
          <p:cNvSpPr/>
          <p:nvPr/>
        </p:nvSpPr>
        <p:spPr>
          <a:xfrm>
            <a:off x="640080" y="1234440"/>
            <a:ext cx="10911535" cy="420624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3749039"/>
          </a:xfrm>
          <a:prstGeom prst="rect">
            <a:avLst/>
          </a:prstGeom>
          <a:noFill/>
        </p:spPr>
        <p:txBody>
          <a:bodyPr wrap="square">
            <a:spAutoFit/>
          </a:bodyPr>
          <a:lstStyle/>
          <a:p>
            <a:pPr algn="l">
              <a:spcAft>
                <a:spcPts val="700"/>
              </a:spcAft>
            </a:pPr>
            <a:r>
              <a:rPr sz="2000" b="0">
                <a:solidFill>
                  <a:srgbClr val="111111"/>
                </a:solidFill>
                <a:latin typeface="Arial"/>
              </a:rPr>
              <a:t>Read the question, then write your answer to it in one sentence at the top of the page. If you cannot, you are not ready to write. Students who decide at the end run out of time and staple a conclusion onto an answer that argued the other way.</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The five step method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100" b="1">
                <a:solidFill>
                  <a:srgbClr val="FFFFFF"/>
                </a:solidFill>
                <a:latin typeface="Arial"/>
              </a:rPr>
              <a:t>2. PICK THE CRITERION.</a:t>
            </a:r>
          </a:p>
        </p:txBody>
      </p:sp>
      <p:sp>
        <p:nvSpPr>
          <p:cNvPr id="4" name="Rectangle 3"/>
          <p:cNvSpPr/>
          <p:nvPr/>
        </p:nvSpPr>
        <p:spPr>
          <a:xfrm>
            <a:off x="640080" y="1234440"/>
            <a:ext cx="10911535" cy="420624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3749039"/>
          </a:xfrm>
          <a:prstGeom prst="rect">
            <a:avLst/>
          </a:prstGeom>
          <a:noFill/>
        </p:spPr>
        <p:txBody>
          <a:bodyPr wrap="square">
            <a:spAutoFit/>
          </a:bodyPr>
          <a:lstStyle/>
          <a:p>
            <a:pPr algn="l">
              <a:spcAft>
                <a:spcPts val="700"/>
              </a:spcAft>
            </a:pPr>
            <a:r>
              <a:rPr sz="2000" b="0">
                <a:solidFill>
                  <a:srgbClr val="111111"/>
                </a:solidFill>
                <a:latin typeface="Arial"/>
              </a:rPr>
              <a:t>Better or worse is meaningless on its own. Better or worse for what this business is trying to do right now is a judgement. Name the criterion in the first paragraph: protecting cash, defending a market position, lifting margin, surviving the next twelve months.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The five step method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100" b="1">
                <a:solidFill>
                  <a:srgbClr val="FFFFFF"/>
                </a:solidFill>
                <a:latin typeface="Arial"/>
              </a:rPr>
              <a:t>3. BUILD THE STRONGEST VERSION OF THE CASE YOU ARE GOING TO REJECT.</a:t>
            </a:r>
          </a:p>
        </p:txBody>
      </p:sp>
      <p:sp>
        <p:nvSpPr>
          <p:cNvPr id="4" name="Rectangle 3"/>
          <p:cNvSpPr/>
          <p:nvPr/>
        </p:nvSpPr>
        <p:spPr>
          <a:xfrm>
            <a:off x="640080" y="1234440"/>
            <a:ext cx="10911535" cy="420624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3749039"/>
          </a:xfrm>
          <a:prstGeom prst="rect">
            <a:avLst/>
          </a:prstGeom>
          <a:noFill/>
        </p:spPr>
        <p:txBody>
          <a:bodyPr wrap="square">
            <a:spAutoFit/>
          </a:bodyPr>
          <a:lstStyle/>
          <a:p>
            <a:pPr algn="l">
              <a:spcAft>
                <a:spcPts val="700"/>
              </a:spcAft>
            </a:pPr>
            <a:r>
              <a:rPr sz="2000" b="0">
                <a:solidFill>
                  <a:srgbClr val="111111"/>
                </a:solidFill>
                <a:latin typeface="Arial"/>
              </a:rPr>
              <a:t>An answer that only argues one way is not evaluation, it is advocacy. Put the other side at its strongest, using the business's own figures, then show why it does not hold here. Rejecting a strong argument earns more than beating a weak one.</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The five step method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100" b="1">
                <a:solidFill>
                  <a:srgbClr val="FFFFFF"/>
                </a:solidFill>
                <a:latin typeface="Arial"/>
              </a:rPr>
              <a:t>4. WEIGH WITH A NUMBER.</a:t>
            </a:r>
          </a:p>
        </p:txBody>
      </p:sp>
      <p:sp>
        <p:nvSpPr>
          <p:cNvPr id="4" name="Rectangle 3"/>
          <p:cNvSpPr/>
          <p:nvPr/>
        </p:nvSpPr>
        <p:spPr>
          <a:xfrm>
            <a:off x="640080" y="1234440"/>
            <a:ext cx="10911535" cy="420624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3749039"/>
          </a:xfrm>
          <a:prstGeom prst="rect">
            <a:avLst/>
          </a:prstGeom>
          <a:noFill/>
        </p:spPr>
        <p:txBody>
          <a:bodyPr wrap="square">
            <a:spAutoFit/>
          </a:bodyPr>
          <a:lstStyle/>
          <a:p>
            <a:pPr algn="l">
              <a:spcAft>
                <a:spcPts val="700"/>
              </a:spcAft>
            </a:pPr>
            <a:r>
              <a:rPr sz="2000" b="0">
                <a:solidFill>
                  <a:srgbClr val="111111"/>
                </a:solidFill>
                <a:latin typeface="Arial"/>
              </a:rPr>
              <a:t>Evaluation without evidence is opinion. The sentence that turns a judgement into a mark almost always contains a figure from the case, a comparison, or a magnitude. Six years is a long payback carries weight. This might not work does not.</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The five step method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100" b="1">
                <a:solidFill>
                  <a:srgbClr val="FFFFFF"/>
                </a:solidFill>
                <a:latin typeface="Arial"/>
              </a:rPr>
              <a:t>5. ATTACH THE CONDITION.</a:t>
            </a:r>
          </a:p>
        </p:txBody>
      </p:sp>
      <p:sp>
        <p:nvSpPr>
          <p:cNvPr id="4" name="Rectangle 3"/>
          <p:cNvSpPr/>
          <p:nvPr/>
        </p:nvSpPr>
        <p:spPr>
          <a:xfrm>
            <a:off x="640080" y="1234440"/>
            <a:ext cx="10911535" cy="420624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3749039"/>
          </a:xfrm>
          <a:prstGeom prst="rect">
            <a:avLst/>
          </a:prstGeom>
          <a:noFill/>
        </p:spPr>
        <p:txBody>
          <a:bodyPr wrap="square">
            <a:spAutoFit/>
          </a:bodyPr>
          <a:lstStyle/>
          <a:p>
            <a:pPr algn="l">
              <a:spcAft>
                <a:spcPts val="700"/>
              </a:spcAft>
            </a:pPr>
            <a:r>
              <a:rPr sz="2000" b="0">
                <a:solidFill>
                  <a:srgbClr val="111111"/>
                </a:solidFill>
                <a:latin typeface="Arial"/>
              </a:rPr>
              <a:t>End by naming what would change your mind. It takes one sentence, most students never write it, and it is one of the cheapest ways to lift an answer.</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The five step method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THE TAG KEY</a:t>
            </a:r>
          </a:p>
        </p:txBody>
      </p:sp>
      <p:sp>
        <p:nvSpPr>
          <p:cNvPr id="4" name="Rectangle 3"/>
          <p:cNvSpPr/>
          <p:nvPr/>
        </p:nvSpPr>
        <p:spPr>
          <a:xfrm>
            <a:off x="640080" y="1188720"/>
            <a:ext cx="10911535" cy="40233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44752"/>
            <a:ext cx="10362895" cy="3566160"/>
          </a:xfrm>
          <a:prstGeom prst="rect">
            <a:avLst/>
          </a:prstGeom>
          <a:noFill/>
        </p:spPr>
        <p:txBody>
          <a:bodyPr wrap="square">
            <a:spAutoFit/>
          </a:bodyPr>
          <a:lstStyle/>
          <a:p>
            <a:pPr algn="l">
              <a:spcAft>
                <a:spcPts val="700"/>
              </a:spcAft>
            </a:pPr>
            <a:r>
              <a:rPr sz="1800" b="0">
                <a:solidFill>
                  <a:srgbClr val="111111"/>
                </a:solidFill>
                <a:latin typeface="Arial"/>
              </a:rPr>
              <a:t>K   Knowledge, AO1.  A term used correctly or a concept named. Necessary, cheap, and never enough on its own.</a:t>
            </a:r>
          </a:p>
          <a:p>
            <a:pPr algn="l">
              <a:spcAft>
                <a:spcPts val="700"/>
              </a:spcAft>
            </a:pPr>
            <a:r>
              <a:rPr sz="1800" b="0">
                <a:solidFill>
                  <a:srgbClr val="111111"/>
                </a:solidFill>
                <a:latin typeface="Arial"/>
              </a:rPr>
              <a:t>AP   Application, AO2.  Tied to this business using its figures or its situation. If it would be true of another company, it is not application.</a:t>
            </a:r>
          </a:p>
          <a:p>
            <a:pPr algn="l">
              <a:spcAft>
                <a:spcPts val="700"/>
              </a:spcAft>
            </a:pPr>
            <a:r>
              <a:rPr sz="1800" b="0">
                <a:solidFill>
                  <a:srgbClr val="111111"/>
                </a:solidFill>
                <a:latin typeface="Arial"/>
              </a:rPr>
              <a:t>AN   Analysis, AO3.  A consequence followed through. Because this, therefore that, which means this here.</a:t>
            </a:r>
          </a:p>
          <a:p>
            <a:pPr algn="l">
              <a:spcAft>
                <a:spcPts val="700"/>
              </a:spcAft>
            </a:pPr>
            <a:r>
              <a:rPr sz="1800" b="0">
                <a:solidFill>
                  <a:srgbClr val="111111"/>
                </a:solidFill>
                <a:latin typeface="Arial"/>
              </a:rPr>
              <a:t>EV   Evaluation, AO4.  A judgement, a weighing, a condition, or a supported decision.</a:t>
            </a:r>
          </a:p>
          <a:p>
            <a:pPr algn="l">
              <a:spcAft>
                <a:spcPts val="700"/>
              </a:spcAft>
            </a:pPr>
            <a:r>
              <a:rPr sz="1800" b="0">
                <a:solidFill>
                  <a:srgbClr val="111111"/>
                </a:solidFill>
                <a:latin typeface="Arial"/>
              </a:rPr>
              <a:t>0   Earns nothing.  Restating the question, announcing what the essay will do, or a sentence true of any business anywhere.</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Every sentence in every model answer carries one of these.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VERITY COFFEE</a:t>
            </a:r>
          </a:p>
        </p:txBody>
      </p:sp>
      <p:sp>
        <p:nvSpPr>
          <p:cNvPr id="4" name="TextBox 3"/>
          <p:cNvSpPr txBox="1"/>
          <p:nvPr/>
        </p:nvSpPr>
        <p:spPr>
          <a:xfrm>
            <a:off x="640080" y="1005840"/>
            <a:ext cx="10911535" cy="914400"/>
          </a:xfrm>
          <a:prstGeom prst="rect">
            <a:avLst/>
          </a:prstGeom>
          <a:noFill/>
        </p:spPr>
        <p:txBody>
          <a:bodyPr wrap="square">
            <a:spAutoFit/>
          </a:bodyPr>
          <a:lstStyle/>
          <a:p>
            <a:pPr algn="l">
              <a:spcAft>
                <a:spcPts val="700"/>
              </a:spcAft>
            </a:pPr>
            <a:r>
              <a:rPr sz="1400" b="0">
                <a:solidFill>
                  <a:srgbClr val="111111"/>
                </a:solidFill>
                <a:latin typeface="Arial"/>
              </a:rPr>
              <a:t>Verity Coffee is a UK coffee shop chain with 120 sites, mostly on high streets and in retail parks. It sells coffee, cold drinks and a small food range. Over the last two years revenue has grown but profitability has not kept pace, and the board has asked for options.</a:t>
            </a:r>
          </a:p>
        </p:txBody>
      </p:sp>
      <p:graphicFrame>
        <p:nvGraphicFramePr>
          <p:cNvPr id="5" name="Table 4"/>
          <p:cNvGraphicFramePr>
            <a:graphicFrameLocks noGrp="1"/>
          </p:cNvGraphicFramePr>
          <p:nvPr/>
        </p:nvGraphicFramePr>
        <p:xfrm>
          <a:off x="640080" y="2103120"/>
          <a:ext cx="10911535" cy="2377440"/>
        </p:xfrm>
        <a:graphic>
          <a:graphicData uri="http://schemas.openxmlformats.org/drawingml/2006/table">
            <a:tbl>
              <a:tblPr firstRow="1" bandRow="1">
                <a:tableStyleId>{5C22544A-7EE6-4342-B048-85BDC9FD1C3A}</a:tableStyleId>
              </a:tblPr>
              <a:tblGrid>
                <a:gridCol w="3637178"/>
                <a:gridCol w="3637178"/>
                <a:gridCol w="3637179"/>
              </a:tblGrid>
              <a:tr h="396240">
                <a:tc>
                  <a:txBody>
                    <a:bodyPr/>
                    <a:lstStyle/>
                    <a:p/>
                  </a:txBody>
                  <a:tcPr/>
                </a:tc>
                <a:tc>
                  <a:txBody>
                    <a:bodyPr/>
                    <a:lstStyle/>
                    <a:p>
                      <a:r>
                        <a:rPr sz="1400" b="1"/>
                        <a:t>Year ended 2025</a:t>
                      </a:r>
                    </a:p>
                  </a:txBody>
                  <a:tcPr/>
                </a:tc>
                <a:tc>
                  <a:txBody>
                    <a:bodyPr/>
                    <a:lstStyle/>
                    <a:p>
                      <a:r>
                        <a:rPr sz="1400" b="1"/>
                        <a:t>Year ended 2024</a:t>
                      </a:r>
                    </a:p>
                  </a:txBody>
                  <a:tcPr/>
                </a:tc>
              </a:tr>
              <a:tr h="396240">
                <a:tc>
                  <a:txBody>
                    <a:bodyPr/>
                    <a:lstStyle/>
                    <a:p>
                      <a:r>
                        <a:rPr sz="1300"/>
                        <a:t>Revenue</a:t>
                      </a:r>
                    </a:p>
                  </a:txBody>
                  <a:tcPr/>
                </a:tc>
                <a:tc>
                  <a:txBody>
                    <a:bodyPr/>
                    <a:lstStyle/>
                    <a:p>
                      <a:r>
                        <a:rPr sz="1300"/>
                        <a:t>£96.0m</a:t>
                      </a:r>
                    </a:p>
                  </a:txBody>
                  <a:tcPr/>
                </a:tc>
                <a:tc>
                  <a:txBody>
                    <a:bodyPr/>
                    <a:lstStyle/>
                    <a:p>
                      <a:r>
                        <a:rPr sz="1300"/>
                        <a:t>£88.0m</a:t>
                      </a:r>
                    </a:p>
                  </a:txBody>
                  <a:tcPr/>
                </a:tc>
              </a:tr>
              <a:tr h="396240">
                <a:tc>
                  <a:txBody>
                    <a:bodyPr/>
                    <a:lstStyle/>
                    <a:p>
                      <a:r>
                        <a:rPr sz="1300"/>
                        <a:t>Operating profit</a:t>
                      </a:r>
                    </a:p>
                  </a:txBody>
                  <a:tcPr/>
                </a:tc>
                <a:tc>
                  <a:txBody>
                    <a:bodyPr/>
                    <a:lstStyle/>
                    <a:p>
                      <a:r>
                        <a:rPr sz="1300"/>
                        <a:t>£4.8m</a:t>
                      </a:r>
                    </a:p>
                  </a:txBody>
                  <a:tcPr/>
                </a:tc>
                <a:tc>
                  <a:txBody>
                    <a:bodyPr/>
                    <a:lstStyle/>
                    <a:p>
                      <a:r>
                        <a:rPr sz="1300"/>
                        <a:t>£7.92m</a:t>
                      </a:r>
                    </a:p>
                  </a:txBody>
                  <a:tcPr/>
                </a:tc>
              </a:tr>
              <a:tr h="396240">
                <a:tc>
                  <a:txBody>
                    <a:bodyPr/>
                    <a:lstStyle/>
                    <a:p>
                      <a:r>
                        <a:rPr sz="1300"/>
                        <a:t>Operating profit margin</a:t>
                      </a:r>
                    </a:p>
                  </a:txBody>
                  <a:tcPr/>
                </a:tc>
                <a:tc>
                  <a:txBody>
                    <a:bodyPr/>
                    <a:lstStyle/>
                    <a:p>
                      <a:r>
                        <a:rPr sz="1300"/>
                        <a:t>5.0 per cent</a:t>
                      </a:r>
                    </a:p>
                  </a:txBody>
                  <a:tcPr/>
                </a:tc>
                <a:tc>
                  <a:txBody>
                    <a:bodyPr/>
                    <a:lstStyle/>
                    <a:p>
                      <a:r>
                        <a:rPr sz="1300"/>
                        <a:t>9.0 per cent</a:t>
                      </a:r>
                    </a:p>
                  </a:txBody>
                  <a:tcPr/>
                </a:tc>
              </a:tr>
              <a:tr h="396240">
                <a:tc>
                  <a:txBody>
                    <a:bodyPr/>
                    <a:lstStyle/>
                    <a:p>
                      <a:r>
                        <a:rPr sz="1300"/>
                        <a:t>Number of sites</a:t>
                      </a:r>
                    </a:p>
                  </a:txBody>
                  <a:tcPr/>
                </a:tc>
                <a:tc>
                  <a:txBody>
                    <a:bodyPr/>
                    <a:lstStyle/>
                    <a:p>
                      <a:r>
                        <a:rPr sz="1300"/>
                        <a:t>120</a:t>
                      </a:r>
                    </a:p>
                  </a:txBody>
                  <a:tcPr/>
                </a:tc>
                <a:tc>
                  <a:txBody>
                    <a:bodyPr/>
                    <a:lstStyle/>
                    <a:p>
                      <a:r>
                        <a:rPr sz="1300"/>
                        <a:t>118</a:t>
                      </a:r>
                    </a:p>
                  </a:txBody>
                  <a:tcPr/>
                </a:tc>
              </a:tr>
              <a:tr h="396240">
                <a:tc>
                  <a:txBody>
                    <a:bodyPr/>
                    <a:lstStyle/>
                    <a:p>
                      <a:r>
                        <a:rPr sz="1300"/>
                        <a:t>Average revenue per site</a:t>
                      </a:r>
                    </a:p>
                  </a:txBody>
                  <a:tcPr/>
                </a:tc>
                <a:tc>
                  <a:txBody>
                    <a:bodyPr/>
                    <a:lstStyle/>
                    <a:p>
                      <a:r>
                        <a:rPr sz="1300"/>
                        <a:t>£0.80m</a:t>
                      </a:r>
                    </a:p>
                  </a:txBody>
                  <a:tcPr/>
                </a:tc>
                <a:tc>
                  <a:txBody>
                    <a:bodyPr/>
                    <a:lstStyle/>
                    <a:p>
                      <a:r>
                        <a:rPr sz="1300"/>
                        <a:t>£0.75m</a:t>
                      </a:r>
                    </a:p>
                  </a:txBody>
                  <a:tcPr/>
                </a:tc>
              </a:tr>
            </a:tbl>
          </a:graphicData>
        </a:graphic>
      </p:graphicFrame>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Constructed business. Every figure checks out with a calculator.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MID BAND ANSWER</a:t>
            </a:r>
          </a:p>
        </p:txBody>
      </p:sp>
      <p:sp>
        <p:nvSpPr>
          <p:cNvPr id="4" name="Rectangle 3"/>
          <p:cNvSpPr/>
          <p:nvPr/>
        </p:nvSpPr>
        <p:spPr>
          <a:xfrm>
            <a:off x="640080" y="1143000"/>
            <a:ext cx="10911535" cy="49377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250" b="0">
                <a:solidFill>
                  <a:srgbClr val="111111"/>
                </a:solidFill>
                <a:latin typeface="Arial"/>
              </a:rPr>
              <a:t>1.  There are many advantages and disadvantages to Verity Coffee closing its 20 weakest sites.</a:t>
            </a:r>
          </a:p>
          <a:p>
            <a:pPr algn="l">
              <a:spcAft>
                <a:spcPts val="700"/>
              </a:spcAft>
            </a:pPr>
            <a:r>
              <a:rPr sz="1250" b="0">
                <a:solidFill>
                  <a:srgbClr val="111111"/>
                </a:solidFill>
                <a:latin typeface="Arial"/>
              </a:rPr>
              <a:t>2.  One advantage is that closing the sites would reduce costs, because the sites are making a loss.</a:t>
            </a:r>
          </a:p>
          <a:p>
            <a:pPr algn="l">
              <a:spcAft>
                <a:spcPts val="700"/>
              </a:spcAft>
            </a:pPr>
            <a:r>
              <a:rPr sz="1250" b="0">
                <a:solidFill>
                  <a:srgbClr val="111111"/>
                </a:solidFill>
                <a:latin typeface="Arial"/>
              </a:rPr>
              <a:t>3.  This means the business would be more profitable and could invest the money elsewhere.</a:t>
            </a:r>
          </a:p>
          <a:p>
            <a:pPr algn="l">
              <a:spcAft>
                <a:spcPts val="700"/>
              </a:spcAft>
            </a:pPr>
            <a:r>
              <a:rPr sz="1250" b="0">
                <a:solidFill>
                  <a:srgbClr val="111111"/>
                </a:solidFill>
                <a:latin typeface="Arial"/>
              </a:rPr>
              <a:t>4.  However, a disadvantage is that closing sites could damage the brand and upset customers.</a:t>
            </a:r>
          </a:p>
          <a:p>
            <a:pPr algn="l">
              <a:spcAft>
                <a:spcPts val="700"/>
              </a:spcAft>
            </a:pPr>
            <a:r>
              <a:rPr sz="1250" b="0">
                <a:solidFill>
                  <a:srgbClr val="111111"/>
                </a:solidFill>
                <a:latin typeface="Arial"/>
              </a:rPr>
              <a:t>5.  Employees would also lose their jobs, which would affect motivation of remaining staff.</a:t>
            </a:r>
          </a:p>
          <a:p>
            <a:pPr algn="l">
              <a:spcAft>
                <a:spcPts val="700"/>
              </a:spcAft>
            </a:pPr>
            <a:r>
              <a:rPr sz="1250" b="0">
                <a:solidFill>
                  <a:srgbClr val="111111"/>
                </a:solidFill>
                <a:latin typeface="Arial"/>
              </a:rPr>
              <a:t>6.  Closing sites is a big decision and the business would need to think carefully about it.</a:t>
            </a:r>
          </a:p>
          <a:p>
            <a:pPr algn="l">
              <a:spcAft>
                <a:spcPts val="700"/>
              </a:spcAft>
            </a:pPr>
            <a:r>
              <a:rPr sz="1250" b="0">
                <a:solidFill>
                  <a:srgbClr val="111111"/>
                </a:solidFill>
                <a:latin typeface="Arial"/>
              </a:rPr>
              <a:t>7.  In conclusion, it depends on the situation of the business and what its objectives are.</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Mark it out of 25 before you see the tags.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000" b="1">
                <a:solidFill>
                  <a:srgbClr val="FFFFFF"/>
                </a:solidFill>
                <a:latin typeface="Arial"/>
              </a:rPr>
              <a:t>MID BAND ANSWER   |   TAGS</a:t>
            </a:r>
          </a:p>
        </p:txBody>
      </p:sp>
      <p:sp>
        <p:nvSpPr>
          <p:cNvPr id="4" name="Rectangle 3"/>
          <p:cNvSpPr/>
          <p:nvPr/>
        </p:nvSpPr>
        <p:spPr>
          <a:xfrm>
            <a:off x="640080" y="1143000"/>
            <a:ext cx="10911535" cy="49377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150" b="0">
                <a:solidFill>
                  <a:srgbClr val="111111"/>
                </a:solidFill>
                <a:latin typeface="Arial"/>
              </a:rPr>
              <a:t>1.  0   Restates the question. Earns nothing and costs a line. Cut it and start with the decision.</a:t>
            </a:r>
          </a:p>
          <a:p>
            <a:pPr algn="l">
              <a:spcAft>
                <a:spcPts val="700"/>
              </a:spcAft>
            </a:pPr>
            <a:r>
              <a:rPr sz="1150" b="0">
                <a:solidFill>
                  <a:srgbClr val="111111"/>
                </a:solidFill>
                <a:latin typeface="Arial"/>
              </a:rPr>
              <a:t>2.  K   True, and the term is used correctly, but there is no figure and no consequence. Nothing here is specific to Verity, so it fails the application test. The case gives £0.6 million, and using it would earn AP and AN as well.</a:t>
            </a:r>
          </a:p>
          <a:p>
            <a:pPr algn="l">
              <a:spcAft>
                <a:spcPts val="700"/>
              </a:spcAft>
            </a:pPr>
            <a:r>
              <a:rPr sz="1150" b="0">
                <a:solidFill>
                  <a:srgbClr val="111111"/>
                </a:solidFill>
                <a:latin typeface="Arial"/>
              </a:rPr>
              <a:t>3.  AN   A consequence, but a generic one. Invest the money elsewhere is true of any closure by any firm.</a:t>
            </a:r>
          </a:p>
          <a:p>
            <a:pPr algn="l">
              <a:spcAft>
                <a:spcPts val="700"/>
              </a:spcAft>
            </a:pPr>
            <a:r>
              <a:rPr sz="1150" b="0">
                <a:solidFill>
                  <a:srgbClr val="111111"/>
                </a:solidFill>
                <a:latin typeface="Arial"/>
              </a:rPr>
              <a:t>4.  K   Asserted, not developed and not tied to Verity. Nothing in the case suggests brand damage, so this is imported from a textbook.</a:t>
            </a:r>
          </a:p>
          <a:p>
            <a:pPr algn="l">
              <a:spcAft>
                <a:spcPts val="700"/>
              </a:spcAft>
            </a:pPr>
            <a:r>
              <a:rPr sz="1150" b="0">
                <a:solidFill>
                  <a:srgbClr val="111111"/>
                </a:solidFill>
                <a:latin typeface="Arial"/>
              </a:rPr>
              <a:t>5.  K + AN   A real chain, but again it would fit any business. No Verity evidence anywhere in it.</a:t>
            </a:r>
          </a:p>
          <a:p>
            <a:pPr algn="l">
              <a:spcAft>
                <a:spcPts val="700"/>
              </a:spcAft>
            </a:pPr>
            <a:r>
              <a:rPr sz="1150" b="0">
                <a:solidFill>
                  <a:srgbClr val="111111"/>
                </a:solidFill>
                <a:latin typeface="Arial"/>
              </a:rPr>
              <a:t>6.  0   Filler. It advances nothing and it signals to the examiner that the writer has no view.</a:t>
            </a:r>
          </a:p>
          <a:p>
            <a:pPr algn="l">
              <a:spcAft>
                <a:spcPts val="700"/>
              </a:spcAft>
            </a:pPr>
            <a:r>
              <a:rPr sz="1150" b="0">
                <a:solidFill>
                  <a:srgbClr val="111111"/>
                </a:solidFill>
                <a:latin typeface="Arial"/>
              </a:rPr>
              <a:t>7.  0   The classic ending. It looks like evaluation and earns nothing, because no decision is made and no criterion is named.</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What each sentence earns, and why.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MODEL ANSWER 1</a:t>
            </a:r>
          </a:p>
        </p:txBody>
      </p:sp>
      <p:sp>
        <p:nvSpPr>
          <p:cNvPr id="4" name="Rectangle 3"/>
          <p:cNvSpPr/>
          <p:nvPr/>
        </p:nvSpPr>
        <p:spPr>
          <a:xfrm>
            <a:off x="640080" y="1143000"/>
            <a:ext cx="10911535" cy="49377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250" b="0">
                <a:solidFill>
                  <a:srgbClr val="111111"/>
                </a:solidFill>
                <a:latin typeface="Arial"/>
              </a:rPr>
              <a:t>1.  Verity Coffee's operating margin has fallen from 9.0 per cent to 5.0 per cent in a single year, so the pressure to act is real rather than imagined.</a:t>
            </a:r>
          </a:p>
          <a:p>
            <a:pPr algn="l">
              <a:spcAft>
                <a:spcPts val="700"/>
              </a:spcAft>
            </a:pPr>
            <a:r>
              <a:rPr sz="1250" b="0">
                <a:solidFill>
                  <a:srgbClr val="111111"/>
                </a:solidFill>
                <a:latin typeface="Arial"/>
              </a:rPr>
              <a:t>2.  Closing the 20 weakest sites would remove a combined operating loss of £0.6 million, which on its own would lift group operating profit from £4.8 million to £5.4 million.</a:t>
            </a:r>
          </a:p>
          <a:p>
            <a:pPr algn="l">
              <a:spcAft>
                <a:spcPts val="700"/>
              </a:spcAft>
            </a:pPr>
            <a:r>
              <a:rPr sz="1250" b="0">
                <a:solidFill>
                  <a:srgbClr val="111111"/>
                </a:solidFill>
                <a:latin typeface="Arial"/>
              </a:rPr>
              <a:t>3.  Because revenue would fall by £9.6 million at the same time, margin would rise from 5.0 per cent to about 6.3 per cent, so the ratio improves even though the business gets smaller.</a:t>
            </a:r>
          </a:p>
          <a:p>
            <a:pPr algn="l">
              <a:spcAft>
                <a:spcPts val="700"/>
              </a:spcAft>
            </a:pPr>
            <a:r>
              <a:rPr sz="1250" b="0">
                <a:solidFill>
                  <a:srgbClr val="111111"/>
                </a:solidFill>
                <a:latin typeface="Arial"/>
              </a:rPr>
              <a:t>4.  That is the case for closure at its strongest, and all of it rests on the £0.6 million being a saving that recurs every year.</a:t>
            </a:r>
          </a:p>
          <a:p>
            <a:pPr algn="l">
              <a:spcAft>
                <a:spcPts val="700"/>
              </a:spcAft>
            </a:pPr>
            <a:r>
              <a:rPr sz="1250" b="0">
                <a:solidFill>
                  <a:srgbClr val="111111"/>
                </a:solidFill>
                <a:latin typeface="Arial"/>
              </a:rPr>
              <a:t>5.  It fails on the cost of getting out, which is why Verity should not close them.</a:t>
            </a:r>
          </a:p>
          <a:p>
            <a:pPr algn="l">
              <a:spcAft>
                <a:spcPts val="700"/>
              </a:spcAft>
            </a:pPr>
            <a:r>
              <a:rPr sz="1250" b="0">
                <a:solidFill>
                  <a:srgbClr val="111111"/>
                </a:solidFill>
                <a:latin typeface="Arial"/>
              </a:rPr>
              <a:t>6.  At an average of £180,000 per site the closures cost £3.6 million, which is six times the annual loss being removed.</a:t>
            </a:r>
          </a:p>
          <a:p>
            <a:pPr algn="l">
              <a:spcAft>
                <a:spcPts val="700"/>
              </a:spcAft>
            </a:pPr>
            <a:r>
              <a:rPr sz="1250" b="0">
                <a:solidFill>
                  <a:srgbClr val="111111"/>
                </a:solidFill>
                <a:latin typeface="Arial"/>
              </a:rPr>
              <a:t>7.  So the payback on closing these sites is six years, and that is before any lease that cannot be exited early.</a:t>
            </a:r>
          </a:p>
          <a:p>
            <a:pPr algn="l">
              <a:spcAft>
                <a:spcPts val="700"/>
              </a:spcAft>
            </a:pPr>
            <a:r>
              <a:rPr sz="1250" b="0">
                <a:solidFill>
                  <a:srgbClr val="111111"/>
                </a:solidFill>
                <a:latin typeface="Arial"/>
              </a:rPr>
              <a:t>8.  A business whose margin has fallen by more than 40 per cent in one year is unlikely to have six years of patience.</a:t>
            </a:r>
          </a:p>
          <a:p>
            <a:pPr algn="l">
              <a:spcAft>
                <a:spcPts val="700"/>
              </a:spcAft>
            </a:pPr>
            <a:r>
              <a:rPr sz="1250" b="0">
                <a:solidFill>
                  <a:srgbClr val="111111"/>
                </a:solidFill>
                <a:latin typeface="Arial"/>
              </a:rPr>
              <a:t>9.  Weak revenue is not the same thing as weak contribution, and the case gives revenue only.</a:t>
            </a:r>
          </a:p>
          <a:p>
            <a:pPr algn="l">
              <a:spcAft>
                <a:spcPts val="700"/>
              </a:spcAft>
            </a:pPr>
            <a:r>
              <a:rPr sz="1250" b="0">
                <a:solidFill>
                  <a:srgbClr val="111111"/>
                </a:solidFill>
                <a:latin typeface="Arial"/>
              </a:rPr>
              <a:t>10.  The 20 sites average £0.48 million of revenue against a chain average of £0.80 million, which makes them weak, but weak is not the same as loss making at the margin.</a:t>
            </a:r>
          </a:p>
          <a:p>
            <a:pPr algn="l">
              <a:spcAft>
                <a:spcPts val="700"/>
              </a:spcAft>
            </a:pPr>
            <a:r>
              <a:rPr sz="1250" b="0">
                <a:solidFill>
                  <a:srgbClr val="111111"/>
                </a:solidFill>
                <a:latin typeface="Arial"/>
              </a:rPr>
              <a:t>11.  If most of their cost base is fixed rent that continues after closure, shutting them removes the revenue and keeps the cost.</a:t>
            </a:r>
          </a:p>
          <a:p>
            <a:pPr algn="l">
              <a:spcAft>
                <a:spcPts val="700"/>
              </a:spcAft>
            </a:pPr>
            <a:r>
              <a:rPr sz="1250" b="0">
                <a:solidFill>
                  <a:srgbClr val="111111"/>
                </a:solidFill>
                <a:latin typeface="Arial"/>
              </a:rPr>
              <a:t>12.  Verity's real problem is margin, and margin has fallen across the whole estate rather than in 20 places.</a:t>
            </a:r>
          </a:p>
          <a:p>
            <a:pPr algn="l">
              <a:spcAft>
                <a:spcPts val="700"/>
              </a:spcAft>
            </a:pPr>
            <a:r>
              <a:rPr sz="1250" b="0">
                <a:solidFill>
                  <a:srgbClr val="111111"/>
                </a:solidFill>
                <a:latin typeface="Arial"/>
              </a:rPr>
              <a:t>13.  Revenue grew about 9 per cent while operating profit fell by nearly 40 per cent, which points to cost inflation or discounting across all 120 sites rather than to 20 bad locations.</a:t>
            </a:r>
          </a:p>
          <a:p>
            <a:pPr algn="l">
              <a:spcAft>
                <a:spcPts val="700"/>
              </a:spcAft>
            </a:pPr>
            <a:r>
              <a:rPr sz="1250" b="0">
                <a:solidFill>
                  <a:srgbClr val="111111"/>
                </a:solidFill>
                <a:latin typeface="Arial"/>
              </a:rPr>
              <a:t>14.  Closing 20 sites would therefore treat the symptom that is easiest to see rather than the one doing the damage.</a:t>
            </a:r>
          </a:p>
          <a:p>
            <a:pPr algn="l">
              <a:spcAft>
                <a:spcPts val="700"/>
              </a:spcAft>
            </a:pPr>
            <a:r>
              <a:rPr sz="1250" b="0">
                <a:solidFill>
                  <a:srgbClr val="111111"/>
                </a:solidFill>
                <a:latin typeface="Arial"/>
              </a:rPr>
              <a:t>15.  On balance the answer stands: Verity should not close the 20 sites now.</a:t>
            </a:r>
          </a:p>
          <a:p>
            <a:pPr algn="l">
              <a:spcAft>
                <a:spcPts val="700"/>
              </a:spcAft>
            </a:pPr>
            <a:r>
              <a:rPr sz="1250" b="0">
                <a:solidFill>
                  <a:srgbClr val="111111"/>
                </a:solidFill>
                <a:latin typeface="Arial"/>
              </a:rPr>
              <a:t>16.  It should first establish how much of each site's cost base actually disappears on closure, because that single number decides whether the £3.6 million buys anything at all.</a:t>
            </a:r>
          </a:p>
          <a:p>
            <a:pPr algn="l">
              <a:spcAft>
                <a:spcPts val="700"/>
              </a:spcAft>
            </a:pPr>
            <a:r>
              <a:rPr sz="1250" b="0">
                <a:solidFill>
                  <a:srgbClr val="111111"/>
                </a:solidFill>
                <a:latin typeface="Arial"/>
              </a:rPr>
              <a:t>17.  If a material share of the cost is unavoidable lease commitment, closure destroys value and the answer is a firm no.</a:t>
            </a:r>
          </a:p>
          <a:p>
            <a:pPr algn="l">
              <a:spcAft>
                <a:spcPts val="700"/>
              </a:spcAft>
            </a:pPr>
            <a:r>
              <a:rPr sz="1250" b="0">
                <a:solidFill>
                  <a:srgbClr val="111111"/>
                </a:solidFill>
                <a:latin typeface="Arial"/>
              </a:rPr>
              <a:t>18.  If the leases are short and genuinely exitable, the six year payback becomes perhaps two, and closure becomes the right call as part of a wider attack on cost across the whole estate.</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Cover the tags. Reveal one sentence at a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000" b="1">
                <a:solidFill>
                  <a:srgbClr val="FFFFFF"/>
                </a:solidFill>
                <a:latin typeface="Arial"/>
              </a:rPr>
              <a:t>MODEL ANSWER 1   |   TAGS</a:t>
            </a:r>
          </a:p>
        </p:txBody>
      </p:sp>
      <p:sp>
        <p:nvSpPr>
          <p:cNvPr id="4" name="Rectangle 3"/>
          <p:cNvSpPr/>
          <p:nvPr/>
        </p:nvSpPr>
        <p:spPr>
          <a:xfrm>
            <a:off x="640080" y="1143000"/>
            <a:ext cx="10911535" cy="49377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150" b="0">
                <a:solidFill>
                  <a:srgbClr val="111111"/>
                </a:solidFill>
                <a:latin typeface="Arial"/>
              </a:rPr>
              <a:t>1.  K + AP   Two figures from the case, used to establish that the problem is genuine. Opening with evidence rather than with a definition is worth copying.</a:t>
            </a:r>
          </a:p>
          <a:p>
            <a:pPr algn="l">
              <a:spcAft>
                <a:spcPts val="700"/>
              </a:spcAft>
            </a:pPr>
            <a:r>
              <a:rPr sz="1150" b="0">
                <a:solidFill>
                  <a:srgbClr val="111111"/>
                </a:solidFill>
                <a:latin typeface="Arial"/>
              </a:rPr>
              <a:t>2.  AP + AN   The figure is applied and then followed through to its effect on the group. This is the case for closure stated properly, not vaguely.</a:t>
            </a:r>
          </a:p>
          <a:p>
            <a:pPr algn="l">
              <a:spcAft>
                <a:spcPts val="700"/>
              </a:spcAft>
            </a:pPr>
            <a:r>
              <a:rPr sz="1150" b="0">
                <a:solidFill>
                  <a:srgbClr val="111111"/>
                </a:solidFill>
                <a:latin typeface="Arial"/>
              </a:rPr>
              <a:t>3.  AP + AN   A second step in the same chain, and a genuine insight. Most students stop after the profit effect and miss that the margin improves partly because the denominator shrinks.</a:t>
            </a:r>
          </a:p>
          <a:p>
            <a:pPr algn="l">
              <a:spcAft>
                <a:spcPts val="700"/>
              </a:spcAft>
            </a:pPr>
            <a:r>
              <a:rPr sz="1150" b="0">
                <a:solidFill>
                  <a:srgbClr val="111111"/>
                </a:solidFill>
                <a:latin typeface="Arial"/>
              </a:rPr>
              <a:t>4.  AP + EV   Sets up the counter argument and names the assumption holding it up, in one sentence. Signposting on its own earns nothing, which is why this sentence carries a condition as well.</a:t>
            </a:r>
          </a:p>
          <a:p>
            <a:pPr algn="l">
              <a:spcAft>
                <a:spcPts val="700"/>
              </a:spcAft>
            </a:pPr>
            <a:r>
              <a:rPr sz="1150" b="0">
                <a:solidFill>
                  <a:srgbClr val="111111"/>
                </a:solidFill>
                <a:latin typeface="Arial"/>
              </a:rPr>
              <a:t>5.  EV   The decision, in sentence 5. Deciding early costs nothing and it organises everything that follows. Short sentences carry evaluation perfectly well.</a:t>
            </a:r>
          </a:p>
          <a:p>
            <a:pPr algn="l">
              <a:spcAft>
                <a:spcPts val="700"/>
              </a:spcAft>
            </a:pPr>
            <a:r>
              <a:rPr sz="1150" b="0">
                <a:solidFill>
                  <a:srgbClr val="111111"/>
                </a:solidFill>
                <a:latin typeface="Arial"/>
              </a:rPr>
              <a:t>6.  AP + AN   The calculation is done, and then converted into a comparison. The comparison is what makes it evaluative rather than arithmetical.</a:t>
            </a:r>
          </a:p>
          <a:p>
            <a:pPr algn="l">
              <a:spcAft>
                <a:spcPts val="700"/>
              </a:spcAft>
            </a:pPr>
            <a:r>
              <a:rPr sz="1150" b="0">
                <a:solidFill>
                  <a:srgbClr val="111111"/>
                </a:solidFill>
                <a:latin typeface="Arial"/>
              </a:rPr>
              <a:t>7.  K + AN + EV   The single strongest sentence in the answer. It turns two figures into a number a board would act on, and then flags a risk that makes it worse.</a:t>
            </a:r>
          </a:p>
          <a:p>
            <a:pPr algn="l">
              <a:spcAft>
                <a:spcPts val="700"/>
              </a:spcAft>
            </a:pPr>
            <a:r>
              <a:rPr sz="1150" b="0">
                <a:solidFill>
                  <a:srgbClr val="111111"/>
                </a:solidFill>
                <a:latin typeface="Arial"/>
              </a:rPr>
              <a:t>8.  EV   Weighing against a criterion, which here is the time the business actually has. This is what better or worse for what looks like in practice.</a:t>
            </a:r>
          </a:p>
          <a:p>
            <a:pPr algn="l">
              <a:spcAft>
                <a:spcPts val="700"/>
              </a:spcAft>
            </a:pPr>
            <a:r>
              <a:rPr sz="1150" b="0">
                <a:solidFill>
                  <a:srgbClr val="111111"/>
                </a:solidFill>
                <a:latin typeface="Arial"/>
              </a:rPr>
              <a:t>9.  K + EV   Challenges the quality of the evidence rather than adding another point. Interrogating the data you have been given is the kind of move that separates answers at the top.</a:t>
            </a:r>
          </a:p>
          <a:p>
            <a:pPr algn="l">
              <a:spcAft>
                <a:spcPts val="700"/>
              </a:spcAft>
            </a:pPr>
            <a:r>
              <a:rPr sz="1150" b="0">
                <a:solidFill>
                  <a:srgbClr val="111111"/>
                </a:solidFill>
                <a:latin typeface="Arial"/>
              </a:rPr>
              <a:t>10.  AP + EV   A precise distinction, drawn from the figures. Recognising that a category in the question may be the wrong category is a high level move.</a:t>
            </a:r>
          </a:p>
          <a:p>
            <a:pPr algn="l">
              <a:spcAft>
                <a:spcPts val="700"/>
              </a:spcAft>
            </a:pPr>
            <a:r>
              <a:rPr sz="1150" b="0">
                <a:solidFill>
                  <a:srgbClr val="111111"/>
                </a:solidFill>
                <a:latin typeface="Arial"/>
              </a:rPr>
              <a:t>11.  K + AN   A conditional consequence. Conditional reasoning belongs in the body of the answer, not only in the conclusion.</a:t>
            </a:r>
          </a:p>
          <a:p>
            <a:pPr algn="l">
              <a:spcAft>
                <a:spcPts val="700"/>
              </a:spcAft>
            </a:pPr>
            <a:r>
              <a:rPr sz="1150" b="0">
                <a:solidFill>
                  <a:srgbClr val="111111"/>
                </a:solidFill>
                <a:latin typeface="Arial"/>
              </a:rPr>
              <a:t>12.  EV   Reframing the question. This is the point at which the answer stops accepting the premise it was handed, which is where the top band starts.</a:t>
            </a:r>
          </a:p>
          <a:p>
            <a:pPr algn="l">
              <a:spcAft>
                <a:spcPts val="700"/>
              </a:spcAft>
            </a:pPr>
            <a:r>
              <a:rPr sz="1150" b="0">
                <a:solidFill>
                  <a:srgbClr val="111111"/>
                </a:solidFill>
                <a:latin typeface="Arial"/>
              </a:rPr>
              <a:t>13.  AP + AN   Two calculations from the case supporting the reframe. Notice the judgement in sentence 12 came first and the evidence follows immediately. Either order works, but they must be adjacent.</a:t>
            </a:r>
          </a:p>
          <a:p>
            <a:pPr algn="l">
              <a:spcAft>
                <a:spcPts val="700"/>
              </a:spcAft>
            </a:pPr>
            <a:r>
              <a:rPr sz="1150" b="0">
                <a:solidFill>
                  <a:srgbClr val="111111"/>
                </a:solidFill>
                <a:latin typeface="Arial"/>
              </a:rPr>
              <a:t>14.  EV   The judgement stated in a form a decision maker would recognise. No new evidence, and none needed, because sentence 13 supplied it.</a:t>
            </a:r>
          </a:p>
          <a:p>
            <a:pPr algn="l">
              <a:spcAft>
                <a:spcPts val="700"/>
              </a:spcAft>
            </a:pPr>
            <a:r>
              <a:rPr sz="1150" b="0">
                <a:solidFill>
                  <a:srgbClr val="111111"/>
                </a:solidFill>
                <a:latin typeface="Arial"/>
              </a:rPr>
              <a:t>15.  EV   Restating a decision made in sentence 5 would earn little on its own. What earns here is the word now, which converts a permanent verdict into one about timing, and timing is what sentences 17 and 18 then resolve.</a:t>
            </a:r>
          </a:p>
          <a:p>
            <a:pPr algn="l">
              <a:spcAft>
                <a:spcPts val="700"/>
              </a:spcAft>
            </a:pPr>
            <a:r>
              <a:rPr sz="1150" b="0">
                <a:solidFill>
                  <a:srgbClr val="111111"/>
                </a:solidFill>
                <a:latin typeface="Arial"/>
              </a:rPr>
              <a:t>16.  EV   A next step that is proportionate to the risk. This is what justify your view asks for beyond the decision itself.</a:t>
            </a:r>
          </a:p>
          <a:p>
            <a:pPr algn="l">
              <a:spcAft>
                <a:spcPts val="700"/>
              </a:spcAft>
            </a:pPr>
            <a:r>
              <a:rPr sz="1150" b="0">
                <a:solidFill>
                  <a:srgbClr val="111111"/>
                </a:solidFill>
                <a:latin typeface="Arial"/>
              </a:rPr>
              <a:t>17.  EV   The condition, first branch. This is the sentence most students never write.</a:t>
            </a:r>
          </a:p>
          <a:p>
            <a:pPr algn="l">
              <a:spcAft>
                <a:spcPts val="700"/>
              </a:spcAft>
            </a:pPr>
            <a:r>
              <a:rPr sz="1150" b="0">
                <a:solidFill>
                  <a:srgbClr val="111111"/>
                </a:solidFill>
                <a:latin typeface="Arial"/>
              </a:rPr>
              <a:t>18.  EV   The condition, second branch. Naming both branches shows the judgement was reasoned rather than picked, and it costs two sentences.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What each sentence earns, and why.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MODEL ANSWER 2</a:t>
            </a:r>
          </a:p>
        </p:txBody>
      </p:sp>
      <p:sp>
        <p:nvSpPr>
          <p:cNvPr id="4" name="Rectangle 3"/>
          <p:cNvSpPr/>
          <p:nvPr/>
        </p:nvSpPr>
        <p:spPr>
          <a:xfrm>
            <a:off x="640080" y="1143000"/>
            <a:ext cx="10911535" cy="49377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250" b="0">
                <a:solidFill>
                  <a:srgbClr val="111111"/>
                </a:solidFill>
                <a:latin typeface="Arial"/>
              </a:rPr>
              <a:t>1.  The scheme cannibalises existing sales: it replaces £19.20 of monthly coffee revenue from an average customer with a flat £15, so before anything else happens Verity gives up £4.20 a month per subscriber.</a:t>
            </a:r>
          </a:p>
          <a:p>
            <a:pPr algn="l">
              <a:spcAft>
                <a:spcPts val="700"/>
              </a:spcAft>
            </a:pPr>
            <a:r>
              <a:rPr sz="1250" b="0">
                <a:solidFill>
                  <a:srgbClr val="111111"/>
                </a:solidFill>
                <a:latin typeface="Arial"/>
              </a:rPr>
              <a:t>2.  The trial suggests that is not the whole story, because subscribers visited 11 times a month against a normal 6.</a:t>
            </a:r>
          </a:p>
          <a:p>
            <a:pPr algn="l">
              <a:spcAft>
                <a:spcPts val="700"/>
              </a:spcAft>
            </a:pPr>
            <a:r>
              <a:rPr sz="1250" b="0">
                <a:solidFill>
                  <a:srgbClr val="111111"/>
                </a:solidFill>
                <a:latin typeface="Arial"/>
              </a:rPr>
              <a:t>3.  Those extra visits cost almost nothing to serve, because at £0.35 a cup 11 visits cost Verity £3.85.</a:t>
            </a:r>
          </a:p>
          <a:p>
            <a:pPr algn="l">
              <a:spcAft>
                <a:spcPts val="700"/>
              </a:spcAft>
            </a:pPr>
            <a:r>
              <a:rPr sz="1250" b="0">
                <a:solidFill>
                  <a:srgbClr val="111111"/>
                </a:solidFill>
                <a:latin typeface="Arial"/>
              </a:rPr>
              <a:t>4.  The scheme only becomes loss making on coffee cost alone at about 43 visits a month, which no customer will reach.</a:t>
            </a:r>
          </a:p>
          <a:p>
            <a:pPr algn="l">
              <a:spcAft>
                <a:spcPts val="700"/>
              </a:spcAft>
            </a:pPr>
            <a:r>
              <a:rPr sz="1250" b="0">
                <a:solidFill>
                  <a:srgbClr val="111111"/>
                </a:solidFill>
                <a:latin typeface="Arial"/>
              </a:rPr>
              <a:t>5.  So the risk is not the cost of the coffee but the revenue the customer used to pay, and on the trial numbers that is enough to make the scheme marginal at best.</a:t>
            </a:r>
          </a:p>
          <a:p>
            <a:pPr algn="l">
              <a:spcAft>
                <a:spcPts val="700"/>
              </a:spcAft>
            </a:pPr>
            <a:r>
              <a:rPr sz="1250" b="0">
                <a:solidFill>
                  <a:srgbClr val="111111"/>
                </a:solidFill>
                <a:latin typeface="Arial"/>
              </a:rPr>
              <a:t>6.  On the trial numbers coffee contribution per customer falls from £17.10 a month to £11.15, a loss of £5.95.</a:t>
            </a:r>
          </a:p>
          <a:p>
            <a:pPr algn="l">
              <a:spcAft>
                <a:spcPts val="700"/>
              </a:spcAft>
            </a:pPr>
            <a:r>
              <a:rPr sz="1250" b="0">
                <a:solidFill>
                  <a:srgbClr val="111111"/>
                </a:solidFill>
                <a:latin typeface="Arial"/>
              </a:rPr>
              <a:t>7.  Food is where that £5.95 has to come back.</a:t>
            </a:r>
          </a:p>
          <a:p>
            <a:pPr algn="l">
              <a:spcAft>
                <a:spcPts val="700"/>
              </a:spcAft>
            </a:pPr>
            <a:r>
              <a:rPr sz="1250" b="0">
                <a:solidFill>
                  <a:srgbClr val="111111"/>
                </a:solidFill>
                <a:latin typeface="Arial"/>
              </a:rPr>
              <a:t>8.  At £4.10 and a 65 per cent gross margin each food item contributes about £2.67, so the scheme needs roughly 2.2 extra food purchases per subscriber per month simply to stand still.</a:t>
            </a:r>
          </a:p>
          <a:p>
            <a:pPr algn="l">
              <a:spcAft>
                <a:spcPts val="700"/>
              </a:spcAft>
            </a:pPr>
            <a:r>
              <a:rPr sz="1250" b="0">
                <a:solidFill>
                  <a:srgbClr val="111111"/>
                </a:solidFill>
                <a:latin typeface="Arial"/>
              </a:rPr>
              <a:t>9.  That is a demanding target, because it asks five extra visits to produce two extra food sales.</a:t>
            </a:r>
          </a:p>
          <a:p>
            <a:pPr algn="l">
              <a:spcAft>
                <a:spcPts val="700"/>
              </a:spcAft>
            </a:pPr>
            <a:r>
              <a:rPr sz="1250" b="0">
                <a:solidFill>
                  <a:srgbClr val="111111"/>
                </a:solidFill>
                <a:latin typeface="Arial"/>
              </a:rPr>
              <a:t>10.  It is not out of reach, though: a customer in the shop 11 times a month rather than 6 has more chances to buy, and the food range is small enough that widening it is within Verity's control.</a:t>
            </a:r>
          </a:p>
          <a:p>
            <a:pPr algn="l">
              <a:spcAft>
                <a:spcPts val="700"/>
              </a:spcAft>
            </a:pPr>
            <a:r>
              <a:rPr sz="1250" b="0">
                <a:solidFill>
                  <a:srgbClr val="111111"/>
                </a:solidFill>
                <a:latin typeface="Arial"/>
              </a:rPr>
              <a:t>11.  Subscriptions also attract the heaviest users first, so the early trial numbers will look worse than the eventual average once lighter customers join.</a:t>
            </a:r>
          </a:p>
          <a:p>
            <a:pPr algn="l">
              <a:spcAft>
                <a:spcPts val="700"/>
              </a:spcAft>
            </a:pPr>
            <a:r>
              <a:rPr sz="1250" b="0">
                <a:solidFill>
                  <a:srgbClr val="111111"/>
                </a:solidFill>
                <a:latin typeface="Arial"/>
              </a:rPr>
              <a:t>12.  None of this touches the underlying problem, which is that operating margin has fallen from 9.0 to 5.0 per cent across all 120 sites while a subscription changes the mix of revenue rather than the cost base.</a:t>
            </a:r>
          </a:p>
          <a:p>
            <a:pPr algn="l">
              <a:spcAft>
                <a:spcPts val="700"/>
              </a:spcAft>
            </a:pPr>
            <a:r>
              <a:rPr sz="1250" b="0">
                <a:solidFill>
                  <a:srgbClr val="111111"/>
                </a:solidFill>
                <a:latin typeface="Arial"/>
              </a:rPr>
              <a:t>13.  The likely impact is therefore a small negative in year one, turning positive only if food attachment rises by more than about two items per subscriber per month.</a:t>
            </a:r>
          </a:p>
          <a:p>
            <a:pPr algn="l">
              <a:spcAft>
                <a:spcPts val="700"/>
              </a:spcAft>
            </a:pPr>
            <a:r>
              <a:rPr sz="1250" b="0">
                <a:solidFill>
                  <a:srgbClr val="111111"/>
                </a:solidFill>
                <a:latin typeface="Arial"/>
              </a:rPr>
              <a:t>14.  Verity should extend the trial and measure one number, food items per visit, because that number decides the outcome and nothing else in the proposal does.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Edexcel style, same business.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000" b="1">
                <a:solidFill>
                  <a:srgbClr val="FFFFFF"/>
                </a:solidFill>
                <a:latin typeface="Arial"/>
              </a:rPr>
              <a:t>MODEL ANSWER 2   |   TAGS</a:t>
            </a:r>
          </a:p>
        </p:txBody>
      </p:sp>
      <p:sp>
        <p:nvSpPr>
          <p:cNvPr id="4" name="Rectangle 3"/>
          <p:cNvSpPr/>
          <p:nvPr/>
        </p:nvSpPr>
        <p:spPr>
          <a:xfrm>
            <a:off x="640080" y="1143000"/>
            <a:ext cx="10911535" cy="49377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150" b="0">
                <a:solidFill>
                  <a:srgbClr val="111111"/>
                </a:solidFill>
                <a:latin typeface="Arial"/>
              </a:rPr>
              <a:t>1.  K + AP + AN   Names the concept, then quantifies it. Six visits at £3.20 is the calculation, and it is done rather than described. Cannibalisation is the AO1 term this question is built on and most answers never use it.</a:t>
            </a:r>
          </a:p>
          <a:p>
            <a:pPr algn="l">
              <a:spcAft>
                <a:spcPts val="700"/>
              </a:spcAft>
            </a:pPr>
            <a:r>
              <a:rPr sz="1150" b="0">
                <a:solidFill>
                  <a:srgbClr val="111111"/>
                </a:solidFill>
                <a:latin typeface="Arial"/>
              </a:rPr>
              <a:t>2.  AP   The counter evidence introduced immediately, so the answer is weighing from the second sentence rather than after a page.</a:t>
            </a:r>
          </a:p>
          <a:p>
            <a:pPr algn="l">
              <a:spcAft>
                <a:spcPts val="700"/>
              </a:spcAft>
            </a:pPr>
            <a:r>
              <a:rPr sz="1150" b="0">
                <a:solidFill>
                  <a:srgbClr val="111111"/>
                </a:solidFill>
                <a:latin typeface="Arial"/>
              </a:rPr>
              <a:t>3.  AP + AN   The consequence of the cost structure, not just the cost. Low variable cost is the reason a subscription can work at all here.</a:t>
            </a:r>
          </a:p>
          <a:p>
            <a:pPr algn="l">
              <a:spcAft>
                <a:spcPts val="700"/>
              </a:spcAft>
            </a:pPr>
            <a:r>
              <a:rPr sz="1150" b="0">
                <a:solidFill>
                  <a:srgbClr val="111111"/>
                </a:solidFill>
                <a:latin typeface="Arial"/>
              </a:rPr>
              <a:t>4.  AN + EV   A calculated boundary, £15 divided by £0.35. Working out where a proposal would actually fail, and showing it is nowhere near, is a strong evaluative move and almost nobody does it.</a:t>
            </a:r>
          </a:p>
          <a:p>
            <a:pPr algn="l">
              <a:spcAft>
                <a:spcPts val="700"/>
              </a:spcAft>
            </a:pPr>
            <a:r>
              <a:rPr sz="1150" b="0">
                <a:solidFill>
                  <a:srgbClr val="111111"/>
                </a:solidFill>
                <a:latin typeface="Arial"/>
              </a:rPr>
              <a:t>5.  EV   Rejects the obvious objection, names the real one, and reaches a position, all in sentence 5. Deciding early organises everything that follows.</a:t>
            </a:r>
          </a:p>
          <a:p>
            <a:pPr algn="l">
              <a:spcAft>
                <a:spcPts val="700"/>
              </a:spcAft>
            </a:pPr>
            <a:r>
              <a:rPr sz="1150" b="0">
                <a:solidFill>
                  <a:srgbClr val="111111"/>
                </a:solidFill>
                <a:latin typeface="Arial"/>
              </a:rPr>
              <a:t>6.  K + AP + AN   The full chain, quantified. Contribution rather than revenue, which is the correct measure for this decision.</a:t>
            </a:r>
          </a:p>
          <a:p>
            <a:pPr algn="l">
              <a:spcAft>
                <a:spcPts val="700"/>
              </a:spcAft>
            </a:pPr>
            <a:r>
              <a:rPr sz="1150" b="0">
                <a:solidFill>
                  <a:srgbClr val="111111"/>
                </a:solidFill>
                <a:latin typeface="Arial"/>
              </a:rPr>
              <a:t>7.  AN   Nine words, and the figure is what keeps it from being pure signposting. Even so this is analysis rather than judgement: it directs the answer and names the mechanism, but it does not yet weigh anything. Signposting with no content in it earns nothing at all.</a:t>
            </a:r>
          </a:p>
          <a:p>
            <a:pPr algn="l">
              <a:spcAft>
                <a:spcPts val="700"/>
              </a:spcAft>
            </a:pPr>
            <a:r>
              <a:rPr sz="1150" b="0">
                <a:solidFill>
                  <a:srgbClr val="111111"/>
                </a:solidFill>
                <a:latin typeface="Arial"/>
              </a:rPr>
              <a:t>8.  K + AP + AN   The decisive calculation of the whole answer. It converts a vague hope about attachment into a testable number.</a:t>
            </a:r>
          </a:p>
          <a:p>
            <a:pPr algn="l">
              <a:spcAft>
                <a:spcPts val="700"/>
              </a:spcAft>
            </a:pPr>
            <a:r>
              <a:rPr sz="1150" b="0">
                <a:solidFill>
                  <a:srgbClr val="111111"/>
                </a:solidFill>
                <a:latin typeface="Arial"/>
              </a:rPr>
              <a:t>9.  AN + EV   Converts the number into a judgement about difficulty. The magnitude is what makes this evaluative rather than descriptive.</a:t>
            </a:r>
          </a:p>
          <a:p>
            <a:pPr algn="l">
              <a:spcAft>
                <a:spcPts val="700"/>
              </a:spcAft>
            </a:pPr>
            <a:r>
              <a:rPr sz="1150" b="0">
                <a:solidFill>
                  <a:srgbClr val="111111"/>
                </a:solidFill>
                <a:latin typeface="Arial"/>
              </a:rPr>
              <a:t>10.  EV   The other side, taken seriously and tied to something the business can actually do. Balance that is anchored in the case rather than in generalities.</a:t>
            </a:r>
          </a:p>
          <a:p>
            <a:pPr algn="l">
              <a:spcAft>
                <a:spcPts val="700"/>
              </a:spcAft>
            </a:pPr>
            <a:r>
              <a:rPr sz="1150" b="0">
                <a:solidFill>
                  <a:srgbClr val="111111"/>
                </a:solidFill>
                <a:latin typeface="Arial"/>
              </a:rPr>
              <a:t>11.  EV   Challenges the reliability of the evidence the answer has been using. Interrogating your own data is a top band habit.</a:t>
            </a:r>
          </a:p>
          <a:p>
            <a:pPr algn="l">
              <a:spcAft>
                <a:spcPts val="700"/>
              </a:spcAft>
            </a:pPr>
            <a:r>
              <a:rPr sz="1150" b="0">
                <a:solidFill>
                  <a:srgbClr val="111111"/>
                </a:solidFill>
                <a:latin typeface="Arial"/>
              </a:rPr>
              <a:t>12.  AP + EV   Places the proposal against the business's actual problem. This is weighing against a criterion in its clearest form.</a:t>
            </a:r>
          </a:p>
          <a:p>
            <a:pPr algn="l">
              <a:spcAft>
                <a:spcPts val="700"/>
              </a:spcAft>
            </a:pPr>
            <a:r>
              <a:rPr sz="1150" b="0">
                <a:solidFill>
                  <a:srgbClr val="111111"/>
                </a:solidFill>
                <a:latin typeface="Arial"/>
              </a:rPr>
              <a:t>13.  EV   The decision, with the condition built into the same sentence. Evaluate asks for exactly this.</a:t>
            </a:r>
          </a:p>
          <a:p>
            <a:pPr algn="l">
              <a:spcAft>
                <a:spcPts val="700"/>
              </a:spcAft>
            </a:pPr>
            <a:r>
              <a:rPr sz="1150" b="0">
                <a:solidFill>
                  <a:srgbClr val="111111"/>
                </a:solidFill>
                <a:latin typeface="Arial"/>
              </a:rPr>
              <a:t>14.  EV   A proportionate next step. Naming the single measure that settles the question is stronger than recommending more analysis in general.</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What each sentence earns, and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MODEL ANSWER 3, THE SHORT ONE</a:t>
            </a:r>
          </a:p>
        </p:txBody>
      </p:sp>
      <p:sp>
        <p:nvSpPr>
          <p:cNvPr id="4" name="Rectangle 3"/>
          <p:cNvSpPr/>
          <p:nvPr/>
        </p:nvSpPr>
        <p:spPr>
          <a:xfrm>
            <a:off x="640080" y="1143000"/>
            <a:ext cx="10911535" cy="49377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250" b="0">
                <a:solidFill>
                  <a:srgbClr val="111111"/>
                </a:solidFill>
                <a:latin typeface="Arial"/>
              </a:rPr>
              <a:t>1.  Verity should not close the 20 sites yet.</a:t>
            </a:r>
          </a:p>
          <a:p>
            <a:pPr algn="l">
              <a:spcAft>
                <a:spcPts val="700"/>
              </a:spcAft>
            </a:pPr>
            <a:r>
              <a:rPr sz="1250" b="0">
                <a:solidFill>
                  <a:srgbClr val="111111"/>
                </a:solidFill>
                <a:latin typeface="Arial"/>
              </a:rPr>
              <a:t>2.  Closing them removes a £0.6 million loss but costs £3.6 million, which is a six year payback for a business whose margin has fallen by more than 40 per cent in a year.</a:t>
            </a:r>
          </a:p>
          <a:p>
            <a:pPr algn="l">
              <a:spcAft>
                <a:spcPts val="700"/>
              </a:spcAft>
            </a:pPr>
            <a:r>
              <a:rPr sz="1250" b="0">
                <a:solidFill>
                  <a:srgbClr val="111111"/>
                </a:solidFill>
                <a:latin typeface="Arial"/>
              </a:rPr>
              <a:t>3.  The weak sites are also the wrong target: revenue grew 9 per cent while operating profit fell nearly 40 per cent, which is an estate wide cost problem, not twenty bad locations.</a:t>
            </a:r>
          </a:p>
          <a:p>
            <a:pPr algn="l">
              <a:spcAft>
                <a:spcPts val="700"/>
              </a:spcAft>
            </a:pPr>
            <a:r>
              <a:rPr sz="1250" b="0">
                <a:solidFill>
                  <a:srgbClr val="111111"/>
                </a:solidFill>
                <a:latin typeface="Arial"/>
              </a:rPr>
              <a:t>4.  Closure would improve margin to about 6.3 per cent on paper, so the number would look better while the cause went untreated.</a:t>
            </a:r>
          </a:p>
          <a:p>
            <a:pPr algn="l">
              <a:spcAft>
                <a:spcPts val="700"/>
              </a:spcAft>
            </a:pPr>
            <a:r>
              <a:rPr sz="1250" b="0">
                <a:solidFill>
                  <a:srgbClr val="111111"/>
                </a:solidFill>
                <a:latin typeface="Arial"/>
              </a:rPr>
              <a:t>5.  The figure that decides this is how much site cost actually disappears on closure, because unavoidable lease commitment would mean losing the revenue and keeping the cost.</a:t>
            </a:r>
          </a:p>
          <a:p>
            <a:pPr algn="l">
              <a:spcAft>
                <a:spcPts val="700"/>
              </a:spcAft>
            </a:pPr>
            <a:r>
              <a:rPr sz="1250" b="0">
                <a:solidFill>
                  <a:srgbClr val="111111"/>
                </a:solidFill>
                <a:latin typeface="Arial"/>
              </a:rPr>
              <a:t>6.  If the leases are short, closure becomes defensible as part of a wider cost programme rather than instead of one.</a:t>
            </a:r>
          </a:p>
          <a:p>
            <a:pPr algn="l">
              <a:spcAft>
                <a:spcPts val="700"/>
              </a:spcAft>
            </a:pPr>
            <a:r>
              <a:rPr sz="1250" b="0">
                <a:solidFill>
                  <a:srgbClr val="111111"/>
                </a:solidFill>
                <a:latin typeface="Arial"/>
              </a:rPr>
              <a:t>7.  On the evidence available the answer is no, and the first action is a cost base review across all 120 sites.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Show this last, never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000" b="1">
                <a:solidFill>
                  <a:srgbClr val="FFFFFF"/>
                </a:solidFill>
                <a:latin typeface="Arial"/>
              </a:rPr>
              <a:t>MODEL ANSWER 3, THE SHORT ONE   |   TAGS</a:t>
            </a:r>
          </a:p>
        </p:txBody>
      </p:sp>
      <p:sp>
        <p:nvSpPr>
          <p:cNvPr id="4" name="Rectangle 3"/>
          <p:cNvSpPr/>
          <p:nvPr/>
        </p:nvSpPr>
        <p:spPr>
          <a:xfrm>
            <a:off x="640080" y="1143000"/>
            <a:ext cx="10911535" cy="49377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150" b="0">
                <a:solidFill>
                  <a:srgbClr val="111111"/>
                </a:solidFill>
                <a:latin typeface="Arial"/>
              </a:rPr>
              <a:t>1.  EV   The decision, in the first line and in eight words. Nothing is lost by deciding early and a great deal is gained, and the word yet carries the timing argument that sentences 5 and 6 resolve.</a:t>
            </a:r>
          </a:p>
          <a:p>
            <a:pPr algn="l">
              <a:spcAft>
                <a:spcPts val="700"/>
              </a:spcAft>
            </a:pPr>
            <a:r>
              <a:rPr sz="1150" b="0">
                <a:solidFill>
                  <a:srgbClr val="111111"/>
                </a:solidFill>
                <a:latin typeface="Arial"/>
              </a:rPr>
              <a:t>2.  K + AP + AN + EV   One sentence carrying four objectives at once, which is what efficient writing under time pressure produces.</a:t>
            </a:r>
          </a:p>
          <a:p>
            <a:pPr algn="l">
              <a:spcAft>
                <a:spcPts val="700"/>
              </a:spcAft>
            </a:pPr>
            <a:r>
              <a:rPr sz="1150" b="0">
                <a:solidFill>
                  <a:srgbClr val="111111"/>
                </a:solidFill>
                <a:latin typeface="Arial"/>
              </a:rPr>
              <a:t>3.  AP + AN + EV   The reframe, evidenced, in a single sentence rather than the paragraph the long version uses.</a:t>
            </a:r>
          </a:p>
          <a:p>
            <a:pPr algn="l">
              <a:spcAft>
                <a:spcPts val="700"/>
              </a:spcAft>
            </a:pPr>
            <a:r>
              <a:rPr sz="1150" b="0">
                <a:solidFill>
                  <a:srgbClr val="111111"/>
                </a:solidFill>
                <a:latin typeface="Arial"/>
              </a:rPr>
              <a:t>4.  AP + AN + EV   Concedes the strongest counter argument and disposes of it in the same sentence.</a:t>
            </a:r>
          </a:p>
          <a:p>
            <a:pPr algn="l">
              <a:spcAft>
                <a:spcPts val="700"/>
              </a:spcAft>
            </a:pPr>
            <a:r>
              <a:rPr sz="1150" b="0">
                <a:solidFill>
                  <a:srgbClr val="111111"/>
                </a:solidFill>
                <a:latin typeface="Arial"/>
              </a:rPr>
              <a:t>5.  K + AN + EV   The condition, expressed as the number to go and find.</a:t>
            </a:r>
          </a:p>
          <a:p>
            <a:pPr algn="l">
              <a:spcAft>
                <a:spcPts val="700"/>
              </a:spcAft>
            </a:pPr>
            <a:r>
              <a:rPr sz="1150" b="0">
                <a:solidFill>
                  <a:srgbClr val="111111"/>
                </a:solidFill>
                <a:latin typeface="Arial"/>
              </a:rPr>
              <a:t>6.  EV   Second branch of the condition.</a:t>
            </a:r>
          </a:p>
          <a:p>
            <a:pPr algn="l">
              <a:spcAft>
                <a:spcPts val="700"/>
              </a:spcAft>
            </a:pPr>
            <a:r>
              <a:rPr sz="1150" b="0">
                <a:solidFill>
                  <a:srgbClr val="111111"/>
                </a:solidFill>
                <a:latin typeface="Arial"/>
              </a:rPr>
              <a:t>7.  EV   Restates the decision and converts it into an action.</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What each sentence earns, and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THE SAME ANSWER, FIXED</a:t>
            </a:r>
          </a:p>
        </p:txBody>
      </p:sp>
      <p:sp>
        <p:nvSpPr>
          <p:cNvPr id="4" name="Rectangle 3"/>
          <p:cNvSpPr/>
          <p:nvPr/>
        </p:nvSpPr>
        <p:spPr>
          <a:xfrm>
            <a:off x="640080" y="1143000"/>
            <a:ext cx="10911535" cy="457200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114800"/>
          </a:xfrm>
          <a:prstGeom prst="rect">
            <a:avLst/>
          </a:prstGeom>
          <a:noFill/>
        </p:spPr>
        <p:txBody>
          <a:bodyPr wrap="square">
            <a:spAutoFit/>
          </a:bodyPr>
          <a:lstStyle/>
          <a:p>
            <a:pPr algn="l">
              <a:spcAft>
                <a:spcPts val="700"/>
              </a:spcAft>
            </a:pPr>
            <a:r>
              <a:rPr sz="1400" b="0">
                <a:solidFill>
                  <a:srgbClr val="111111"/>
                </a:solidFill>
                <a:latin typeface="Arial"/>
              </a:rPr>
              <a:t>Sentence 1: Delete it and open with the decision.  Verity should not close the 20 sites now.</a:t>
            </a:r>
          </a:p>
          <a:p>
            <a:pPr algn="l">
              <a:spcAft>
                <a:spcPts val="700"/>
              </a:spcAft>
            </a:pPr>
            <a:r>
              <a:rPr sz="1400" b="0">
                <a:solidFill>
                  <a:srgbClr val="111111"/>
                </a:solidFill>
                <a:latin typeface="Arial"/>
              </a:rPr>
              <a:t>Sentence 2: Add the figure from the case.  Closing them would remove a combined operating loss of £0.6 million.</a:t>
            </a:r>
          </a:p>
          <a:p>
            <a:pPr algn="l">
              <a:spcAft>
                <a:spcPts val="700"/>
              </a:spcAft>
            </a:pPr>
            <a:r>
              <a:rPr sz="1400" b="0">
                <a:solidFill>
                  <a:srgbClr val="111111"/>
                </a:solidFill>
                <a:latin typeface="Arial"/>
              </a:rPr>
              <a:t>Sentence 3: Replace the generic consequence with the one that matters.  But at £180,000 a site the closures cost £3.6 million, a six year payback on that £0.6 million.</a:t>
            </a:r>
          </a:p>
          <a:p>
            <a:pPr algn="l">
              <a:spcAft>
                <a:spcPts val="700"/>
              </a:spcAft>
            </a:pPr>
            <a:r>
              <a:rPr sz="1400" b="0">
                <a:solidFill>
                  <a:srgbClr val="111111"/>
                </a:solidFill>
                <a:latin typeface="Arial"/>
              </a:rPr>
              <a:t>Sentence 4: Cut the imported disadvantage and use one the case supports.  The larger doubt is whether these are the right sites at all.</a:t>
            </a:r>
          </a:p>
          <a:p>
            <a:pPr algn="l">
              <a:spcAft>
                <a:spcPts val="700"/>
              </a:spcAft>
            </a:pPr>
            <a:r>
              <a:rPr sz="1400" b="0">
                <a:solidFill>
                  <a:srgbClr val="111111"/>
                </a:solidFill>
                <a:latin typeface="Arial"/>
              </a:rPr>
              <a:t>Sentence 5: Keep the chain but tie it to Verity.  Revenue grew 9 per cent while operating profit fell nearly 40 per cent, so the problem is across all 120 sites.</a:t>
            </a:r>
          </a:p>
          <a:p>
            <a:pPr algn="l">
              <a:spcAft>
                <a:spcPts val="700"/>
              </a:spcAft>
            </a:pPr>
            <a:r>
              <a:rPr sz="1400" b="0">
                <a:solidFill>
                  <a:srgbClr val="111111"/>
                </a:solidFill>
                <a:latin typeface="Arial"/>
              </a:rPr>
              <a:t>Sentence 6: Delete it.  </a:t>
            </a:r>
          </a:p>
          <a:p>
            <a:pPr algn="l">
              <a:spcAft>
                <a:spcPts val="700"/>
              </a:spcAft>
            </a:pPr>
            <a:r>
              <a:rPr sz="1400" b="0">
                <a:solidFill>
                  <a:srgbClr val="111111"/>
                </a:solidFill>
                <a:latin typeface="Arial"/>
              </a:rPr>
              <a:t>Sentence 7: Replace it depends with the condition.  The answer is no unless the leases turn out to be short and genuinely exitable, in which case closure becomes part of a wider cost programme.</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Do this live. The deletions are the part they remember.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TWELVE SHAPES</a:t>
            </a:r>
          </a:p>
        </p:txBody>
      </p:sp>
      <p:sp>
        <p:nvSpPr>
          <p:cNvPr id="4" name="Rectangle 3"/>
          <p:cNvSpPr/>
          <p:nvPr/>
        </p:nvSpPr>
        <p:spPr>
          <a:xfrm>
            <a:off x="640080" y="1143000"/>
            <a:ext cx="10911535" cy="49377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300" b="0">
                <a:solidFill>
                  <a:srgbClr val="111111"/>
                </a:solidFill>
                <a:latin typeface="Arial"/>
              </a:rPr>
              <a:t>The stronger objection is not X, it is Y, because...</a:t>
            </a:r>
          </a:p>
          <a:p>
            <a:pPr algn="l">
              <a:spcAft>
                <a:spcPts val="700"/>
              </a:spcAft>
            </a:pPr>
            <a:r>
              <a:rPr sz="1300" b="0">
                <a:solidFill>
                  <a:srgbClr val="111111"/>
                </a:solidFill>
                <a:latin typeface="Arial"/>
              </a:rPr>
              <a:t>This matters more in Verity's position than it would normally, because...</a:t>
            </a:r>
          </a:p>
          <a:p>
            <a:pPr algn="l">
              <a:spcAft>
                <a:spcPts val="700"/>
              </a:spcAft>
            </a:pPr>
            <a:r>
              <a:rPr sz="1300" b="0">
                <a:solidFill>
                  <a:srgbClr val="111111"/>
                </a:solidFill>
                <a:latin typeface="Arial"/>
              </a:rPr>
              <a:t>A payback of six years is long relative to...</a:t>
            </a:r>
          </a:p>
          <a:p>
            <a:pPr algn="l">
              <a:spcAft>
                <a:spcPts val="700"/>
              </a:spcAft>
            </a:pPr>
            <a:r>
              <a:rPr sz="1300" b="0">
                <a:solidFill>
                  <a:srgbClr val="111111"/>
                </a:solidFill>
                <a:latin typeface="Arial"/>
              </a:rPr>
              <a:t>This is a small effect next to the £X the business is losing on...</a:t>
            </a:r>
          </a:p>
          <a:p>
            <a:pPr algn="l">
              <a:spcAft>
                <a:spcPts val="700"/>
              </a:spcAft>
            </a:pPr>
            <a:r>
              <a:rPr sz="1300" b="0">
                <a:solidFill>
                  <a:srgbClr val="111111"/>
                </a:solidFill>
                <a:latin typeface="Arial"/>
              </a:rPr>
              <a:t>If the objective is protecting cash rather than lifting margin, then...</a:t>
            </a:r>
          </a:p>
          <a:p>
            <a:pPr algn="l">
              <a:spcAft>
                <a:spcPts val="700"/>
              </a:spcAft>
            </a:pPr>
            <a:r>
              <a:rPr sz="1300" b="0">
                <a:solidFill>
                  <a:srgbClr val="111111"/>
                </a:solidFill>
                <a:latin typeface="Arial"/>
              </a:rPr>
              <a:t>The case for X is strongest when..., and that condition does not hold here because...</a:t>
            </a:r>
          </a:p>
          <a:p>
            <a:pPr algn="l">
              <a:spcAft>
                <a:spcPts val="700"/>
              </a:spcAft>
            </a:pPr>
            <a:r>
              <a:rPr sz="1300" b="0">
                <a:solidFill>
                  <a:srgbClr val="111111"/>
                </a:solidFill>
                <a:latin typeface="Arial"/>
              </a:rPr>
              <a:t>The question assumes the problem is X, but the evidence points to Y.</a:t>
            </a:r>
          </a:p>
          <a:p>
            <a:pPr algn="l">
              <a:spcAft>
                <a:spcPts val="700"/>
              </a:spcAft>
            </a:pPr>
            <a:r>
              <a:rPr sz="1300" b="0">
                <a:solidFill>
                  <a:srgbClr val="111111"/>
                </a:solidFill>
                <a:latin typeface="Arial"/>
              </a:rPr>
              <a:t>The trial figures overstate this, because...</a:t>
            </a:r>
          </a:p>
          <a:p>
            <a:pPr algn="l">
              <a:spcAft>
                <a:spcPts val="700"/>
              </a:spcAft>
            </a:pPr>
            <a:r>
              <a:rPr sz="1300" b="0">
                <a:solidFill>
                  <a:srgbClr val="111111"/>
                </a:solidFill>
                <a:latin typeface="Arial"/>
              </a:rPr>
              <a:t>This decision changes entirely if...</a:t>
            </a:r>
          </a:p>
          <a:p>
            <a:pPr algn="l">
              <a:spcAft>
                <a:spcPts val="700"/>
              </a:spcAft>
            </a:pPr>
            <a:r>
              <a:rPr sz="1300" b="0">
                <a:solidFill>
                  <a:srgbClr val="111111"/>
                </a:solidFill>
                <a:latin typeface="Arial"/>
              </a:rPr>
              <a:t>The number that settles this is..., and the business does not yet have it.</a:t>
            </a:r>
          </a:p>
          <a:p>
            <a:pPr algn="l">
              <a:spcAft>
                <a:spcPts val="700"/>
              </a:spcAft>
            </a:pPr>
            <a:r>
              <a:rPr sz="1300" b="0">
                <a:solidFill>
                  <a:srgbClr val="111111"/>
                </a:solidFill>
                <a:latin typeface="Arial"/>
              </a:rPr>
              <a:t>This is the right action but the wrong moment, because...</a:t>
            </a:r>
          </a:p>
          <a:p>
            <a:pPr algn="l">
              <a:spcAft>
                <a:spcPts val="700"/>
              </a:spcAft>
            </a:pPr>
            <a:r>
              <a:rPr sz="1300" b="0">
                <a:solidFill>
                  <a:srgbClr val="111111"/>
                </a:solidFill>
                <a:latin typeface="Arial"/>
              </a:rPr>
              <a:t>On the evidence available the answer is no, and the first step is...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Not starters to sprinkle. Shapes to recognise.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TIMED PRACTICE</a:t>
            </a:r>
          </a:p>
        </p:txBody>
      </p:sp>
      <p:sp>
        <p:nvSpPr>
          <p:cNvPr id="4" name="Rectangle 3"/>
          <p:cNvSpPr/>
          <p:nvPr/>
        </p:nvSpPr>
        <p:spPr>
          <a:xfrm>
            <a:off x="640080" y="1188720"/>
            <a:ext cx="10911535" cy="420624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44752"/>
            <a:ext cx="10362895" cy="3749039"/>
          </a:xfrm>
          <a:prstGeom prst="rect">
            <a:avLst/>
          </a:prstGeom>
          <a:noFill/>
        </p:spPr>
        <p:txBody>
          <a:bodyPr wrap="square">
            <a:spAutoFit/>
          </a:bodyPr>
          <a:lstStyle/>
          <a:p>
            <a:pPr algn="l">
              <a:spcAft>
                <a:spcPts val="700"/>
              </a:spcAft>
            </a:pPr>
            <a:r>
              <a:rPr sz="2200" b="1">
                <a:solidFill>
                  <a:srgbClr val="111111"/>
                </a:solidFill>
                <a:latin typeface="Arial"/>
              </a:rPr>
              <a:t>Verity Coffee is considering raising prices by 6 per cent across its range in order to restore its operating margin. Evaluate this decision.</a:t>
            </a:r>
          </a:p>
          <a:p>
            <a:pPr algn="l">
              <a:spcAft>
                <a:spcPts val="700"/>
              </a:spcAft>
            </a:pPr>
            <a:r>
              <a:rPr sz="1800" b="0">
                <a:solidFill>
                  <a:srgbClr val="6B6B6B"/>
                </a:solidFill>
                <a:latin typeface="Arial"/>
              </a:rPr>
              <a:t>20 marks. Thirty minutes. Plan for two, write for twenty eight.</a:t>
            </a:r>
          </a:p>
          <a:p>
            <a:pPr algn="l">
              <a:spcAft>
                <a:spcPts val="700"/>
              </a:spcAft>
            </a:pPr>
            <a:r>
              <a:rPr sz="1800" b="0">
                <a:solidFill>
                  <a:srgbClr val="111111"/>
                </a:solidFill>
                <a:latin typeface="Arial"/>
              </a:rPr>
              <a:t>Plan first: your answer in one sentence, your criterion, the strongest argument against you, the figure you will weigh with, and what would change your mind.</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Use the figures on the Verity Coffee slide.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TEN THINGS TO DO</a:t>
            </a:r>
          </a:p>
        </p:txBody>
      </p:sp>
      <p:sp>
        <p:nvSpPr>
          <p:cNvPr id="4" name="Rectangle 3"/>
          <p:cNvSpPr/>
          <p:nvPr/>
        </p:nvSpPr>
        <p:spPr>
          <a:xfrm>
            <a:off x="640080" y="1143000"/>
            <a:ext cx="10911535" cy="49377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99032"/>
            <a:ext cx="10362895" cy="4480560"/>
          </a:xfrm>
          <a:prstGeom prst="rect">
            <a:avLst/>
          </a:prstGeom>
          <a:noFill/>
        </p:spPr>
        <p:txBody>
          <a:bodyPr wrap="square">
            <a:spAutoFit/>
          </a:bodyPr>
          <a:lstStyle/>
          <a:p>
            <a:pPr algn="l">
              <a:spcAft>
                <a:spcPts val="700"/>
              </a:spcAft>
            </a:pPr>
            <a:r>
              <a:rPr sz="1300" b="0">
                <a:solidFill>
                  <a:srgbClr val="111111"/>
                </a:solidFill>
                <a:latin typeface="Arial"/>
              </a:rPr>
              <a:t>1.  Decide in the first five sentences. An answer that decides at the end usually argued the other way first and then ran out of time.</a:t>
            </a:r>
          </a:p>
          <a:p>
            <a:pPr algn="l">
              <a:spcAft>
                <a:spcPts val="700"/>
              </a:spcAft>
            </a:pPr>
            <a:r>
              <a:rPr sz="1300" b="0">
                <a:solidFill>
                  <a:srgbClr val="111111"/>
                </a:solidFill>
                <a:latin typeface="Arial"/>
              </a:rPr>
              <a:t>2.  Say better for what. Better and worse mean nothing until you name what the business is trying to do.</a:t>
            </a:r>
          </a:p>
          <a:p>
            <a:pPr algn="l">
              <a:spcAft>
                <a:spcPts val="700"/>
              </a:spcAft>
            </a:pPr>
            <a:r>
              <a:rPr sz="1300" b="0">
                <a:solidFill>
                  <a:srgbClr val="111111"/>
                </a:solidFill>
                <a:latin typeface="Arial"/>
              </a:rPr>
              <a:t>3.  Put the other side at its strongest before you reject it. Beating a weak argument earns almost nothing.</a:t>
            </a:r>
          </a:p>
          <a:p>
            <a:pPr algn="l">
              <a:spcAft>
                <a:spcPts val="700"/>
              </a:spcAft>
            </a:pPr>
            <a:r>
              <a:rPr sz="1300" b="0">
                <a:solidFill>
                  <a:srgbClr val="111111"/>
                </a:solidFill>
                <a:latin typeface="Arial"/>
              </a:rPr>
              <a:t>4.  Every judgement needs a number, a comparison or a piece of evidence sitting next to it.</a:t>
            </a:r>
          </a:p>
          <a:p>
            <a:pPr algn="l">
              <a:spcAft>
                <a:spcPts val="700"/>
              </a:spcAft>
            </a:pPr>
            <a:r>
              <a:rPr sz="1300" b="0">
                <a:solidFill>
                  <a:srgbClr val="111111"/>
                </a:solidFill>
                <a:latin typeface="Arial"/>
              </a:rPr>
              <a:t>5.  Use the figures you are given. A figure quoted and then abandoned earns less than a figure followed by a therefore.</a:t>
            </a:r>
          </a:p>
          <a:p>
            <a:pPr algn="l">
              <a:spcAft>
                <a:spcPts val="700"/>
              </a:spcAft>
            </a:pPr>
            <a:r>
              <a:rPr sz="1300" b="0">
                <a:solidFill>
                  <a:srgbClr val="111111"/>
                </a:solidFill>
                <a:latin typeface="Arial"/>
              </a:rPr>
              <a:t>6.  Weigh as you go. Evaluation is a way of writing sentences, not a paragraph at the end.</a:t>
            </a:r>
          </a:p>
          <a:p>
            <a:pPr algn="l">
              <a:spcAft>
                <a:spcPts val="700"/>
              </a:spcAft>
            </a:pPr>
            <a:r>
              <a:rPr sz="1300" b="0">
                <a:solidFill>
                  <a:srgbClr val="111111"/>
                </a:solidFill>
                <a:latin typeface="Arial"/>
              </a:rPr>
              <a:t>7.  Cut the opening line that restates the question, and cut the line that announces what your essay will do. Both earn nothing.</a:t>
            </a:r>
          </a:p>
          <a:p>
            <a:pPr algn="l">
              <a:spcAft>
                <a:spcPts val="700"/>
              </a:spcAft>
            </a:pPr>
            <a:r>
              <a:rPr sz="1300" b="0">
                <a:solidFill>
                  <a:srgbClr val="111111"/>
                </a:solidFill>
                <a:latin typeface="Arial"/>
              </a:rPr>
              <a:t>8.  Short sentences carry judgement perfectly well. Some of the strongest lines in a top band answer are under twenty words.</a:t>
            </a:r>
          </a:p>
          <a:p>
            <a:pPr algn="l">
              <a:spcAft>
                <a:spcPts val="700"/>
              </a:spcAft>
            </a:pPr>
            <a:r>
              <a:rPr sz="1300" b="0">
                <a:solidFill>
                  <a:srgbClr val="111111"/>
                </a:solidFill>
                <a:latin typeface="Arial"/>
              </a:rPr>
              <a:t>9.  Length is not the variable. A seven sentence answer can reach the same band as an eighteen sentence one.</a:t>
            </a:r>
          </a:p>
          <a:p>
            <a:pPr algn="l">
              <a:spcAft>
                <a:spcPts val="700"/>
              </a:spcAft>
            </a:pPr>
            <a:r>
              <a:rPr sz="1300" b="0">
                <a:solidFill>
                  <a:srgbClr val="111111"/>
                </a:solidFill>
                <a:latin typeface="Arial"/>
              </a:rPr>
              <a:t>10.  Finish with the condition. What would change your mind, in one sentence. Most students never write it, and it is the cheapest mark available.</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Student page. Read it together in Lesson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LESSON 1.  WHAT EVALUATION ACTUALLY IS</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000" b="1">
                <a:solidFill>
                  <a:srgbClr val="111111"/>
                </a:solidFill>
                <a:latin typeface="Arial"/>
              </a:rPr>
              <a:t>By the end of this lesson you will be able to:</a:t>
            </a:r>
          </a:p>
          <a:p>
            <a:pPr algn="l">
              <a:spcAft>
                <a:spcPts val="700"/>
              </a:spcAft>
            </a:pPr>
            <a:r>
              <a:rPr sz="2000" b="0">
                <a:solidFill>
                  <a:srgbClr val="111111"/>
                </a:solidFill>
                <a:latin typeface="Arial"/>
              </a:rPr>
              <a:t>1.  Distinguish the four assessment objectives in a piece of writing.</a:t>
            </a:r>
          </a:p>
          <a:p>
            <a:pPr algn="l">
              <a:spcAft>
                <a:spcPts val="700"/>
              </a:spcAft>
            </a:pPr>
            <a:r>
              <a:rPr sz="2000" b="0">
                <a:solidFill>
                  <a:srgbClr val="111111"/>
                </a:solidFill>
                <a:latin typeface="Arial"/>
              </a:rPr>
              <a:t>2.  Explain why balance is not the same as judgement.</a:t>
            </a:r>
          </a:p>
          <a:p>
            <a:pPr algn="l">
              <a:spcAft>
                <a:spcPts val="700"/>
              </a:spcAft>
            </a:pPr>
            <a:r>
              <a:rPr sz="2000" b="0">
                <a:solidFill>
                  <a:srgbClr val="111111"/>
                </a:solidFill>
                <a:latin typeface="Arial"/>
              </a:rPr>
              <a:t>3.  Tag a short answer sentence by sentence and total the objectives.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Objectives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   LESSON 1</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200" b="0">
                <a:solidFill>
                  <a:srgbClr val="111111"/>
                </a:solidFill>
                <a:latin typeface="Arial"/>
              </a:rPr>
              <a:t>1.  What does AO4 stand for?</a:t>
            </a:r>
          </a:p>
          <a:p>
            <a:pPr algn="l">
              <a:spcAft>
                <a:spcPts val="700"/>
              </a:spcAft>
            </a:pPr>
            <a:r>
              <a:rPr sz="2200" b="0">
                <a:solidFill>
                  <a:srgbClr val="111111"/>
                </a:solidFill>
                <a:latin typeface="Arial"/>
              </a:rPr>
              <a:t>2.  Give one phrase that looks like evaluation and earns nothing.</a:t>
            </a:r>
          </a:p>
          <a:p>
            <a:pPr algn="l">
              <a:spcAft>
                <a:spcPts val="700"/>
              </a:spcAft>
            </a:pPr>
            <a:r>
              <a:rPr sz="2200" b="0">
                <a:solidFill>
                  <a:srgbClr val="111111"/>
                </a:solidFill>
                <a:latin typeface="Arial"/>
              </a:rPr>
              <a:t>3.  What is the difference between analysis and evaluation?</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Five minutes.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ANSWERS   |   LESSON 1</a:t>
            </a:r>
          </a:p>
        </p:txBody>
      </p:sp>
      <p:sp>
        <p:nvSpPr>
          <p:cNvPr id="4" name="Rectangle 3"/>
          <p:cNvSpPr/>
          <p:nvPr/>
        </p:nvSpPr>
        <p:spPr>
          <a:xfrm>
            <a:off x="640080" y="1234440"/>
            <a:ext cx="10911535" cy="44805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1700" b="1">
                <a:solidFill>
                  <a:srgbClr val="111111"/>
                </a:solidFill>
                <a:latin typeface="Arial"/>
              </a:rPr>
              <a:t>1.  Evaluation. Judgement, weighing, conditions and supported decisions.</a:t>
            </a:r>
          </a:p>
          <a:p>
            <a:pPr algn="l">
              <a:spcAft>
                <a:spcPts val="700"/>
              </a:spcAft>
            </a:pPr>
            <a:r>
              <a:rPr sz="1700" b="1">
                <a:solidFill>
                  <a:srgbClr val="111111"/>
                </a:solidFill>
                <a:latin typeface="Arial"/>
              </a:rPr>
              <a:t>2.  It depends. Both have advantages. In conclusion it is important to consider all factors.</a:t>
            </a:r>
          </a:p>
          <a:p>
            <a:pPr algn="l">
              <a:spcAft>
                <a:spcPts val="700"/>
              </a:spcAft>
            </a:pPr>
            <a:r>
              <a:rPr sz="1700" b="1">
                <a:solidFill>
                  <a:srgbClr val="111111"/>
                </a:solidFill>
                <a:latin typeface="Arial"/>
              </a:rPr>
              <a:t>3.  Analysis follows a consequence through. Evaluation weighs it against something and decides.</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Mark in green.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LESSON 2.  READING THE ANNOTATION</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000" b="1">
                <a:solidFill>
                  <a:srgbClr val="111111"/>
                </a:solidFill>
                <a:latin typeface="Arial"/>
              </a:rPr>
              <a:t>By the end of this lesson you will be able to:</a:t>
            </a:r>
          </a:p>
          <a:p>
            <a:pPr algn="l">
              <a:spcAft>
                <a:spcPts val="700"/>
              </a:spcAft>
            </a:pPr>
            <a:r>
              <a:rPr sz="2000" b="0">
                <a:solidFill>
                  <a:srgbClr val="111111"/>
                </a:solidFill>
                <a:latin typeface="Arial"/>
              </a:rPr>
              <a:t>1.  Identify which sentence in a strong answer carries the decisive judgement.</a:t>
            </a:r>
          </a:p>
          <a:p>
            <a:pPr algn="l">
              <a:spcAft>
                <a:spcPts val="700"/>
              </a:spcAft>
            </a:pPr>
            <a:r>
              <a:rPr sz="2000" b="0">
                <a:solidFill>
                  <a:srgbClr val="111111"/>
                </a:solidFill>
                <a:latin typeface="Arial"/>
              </a:rPr>
              <a:t>2.  Explain why a sentence earns application rather than knowledge.</a:t>
            </a:r>
          </a:p>
          <a:p>
            <a:pPr algn="l">
              <a:spcAft>
                <a:spcPts val="700"/>
              </a:spcAft>
            </a:pPr>
            <a:r>
              <a:rPr sz="2000" b="0">
                <a:solidFill>
                  <a:srgbClr val="111111"/>
                </a:solidFill>
                <a:latin typeface="Arial"/>
              </a:rPr>
              <a:t>3.  Write three evaluative sentences using shapes taken from the model.</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Objectives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   LESSON 2</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200" b="0">
                <a:solidFill>
                  <a:srgbClr val="111111"/>
                </a:solidFill>
                <a:latin typeface="Arial"/>
              </a:rPr>
              <a:t>1.  What must a sentence contain to earn application?</a:t>
            </a:r>
          </a:p>
          <a:p>
            <a:pPr algn="l">
              <a:spcAft>
                <a:spcPts val="700"/>
              </a:spcAft>
            </a:pPr>
            <a:r>
              <a:rPr sz="2200" b="0">
                <a:solidFill>
                  <a:srgbClr val="111111"/>
                </a:solidFill>
                <a:latin typeface="Arial"/>
              </a:rPr>
              <a:t>2.  Why does a judgement need a number?</a:t>
            </a:r>
          </a:p>
          <a:p>
            <a:pPr algn="l">
              <a:spcAft>
                <a:spcPts val="700"/>
              </a:spcAft>
            </a:pPr>
            <a:r>
              <a:rPr sz="2200" b="0">
                <a:solidFill>
                  <a:srgbClr val="111111"/>
                </a:solidFill>
                <a:latin typeface="Arial"/>
              </a:rPr>
              <a:t>3.  Where should the decision appear in an answer?</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Five minutes.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ANSWERS   |   LESSON 2</a:t>
            </a:r>
          </a:p>
        </p:txBody>
      </p:sp>
      <p:sp>
        <p:nvSpPr>
          <p:cNvPr id="4" name="Rectangle 3"/>
          <p:cNvSpPr/>
          <p:nvPr/>
        </p:nvSpPr>
        <p:spPr>
          <a:xfrm>
            <a:off x="640080" y="1234440"/>
            <a:ext cx="10911535" cy="44805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1700" b="1">
                <a:solidFill>
                  <a:srgbClr val="111111"/>
                </a:solidFill>
                <a:latin typeface="Arial"/>
              </a:rPr>
              <a:t>1.  Something specific to this business, its figures or its situation.</a:t>
            </a:r>
          </a:p>
          <a:p>
            <a:pPr algn="l">
              <a:spcAft>
                <a:spcPts val="700"/>
              </a:spcAft>
            </a:pPr>
            <a:r>
              <a:rPr sz="1700" b="1">
                <a:solidFill>
                  <a:srgbClr val="111111"/>
                </a:solidFill>
                <a:latin typeface="Arial"/>
              </a:rPr>
              <a:t>2.  Without evidence it reads as a guess. The figure is what turns an opinion into a mark.</a:t>
            </a:r>
          </a:p>
          <a:p>
            <a:pPr algn="l">
              <a:spcAft>
                <a:spcPts val="700"/>
              </a:spcAft>
            </a:pPr>
            <a:r>
              <a:rPr sz="1700" b="1">
                <a:solidFill>
                  <a:srgbClr val="111111"/>
                </a:solidFill>
                <a:latin typeface="Arial"/>
              </a:rPr>
              <a:t>3.  Early. An answer that decides at the end usually runs out of time and argues the other way first.</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Mark in green.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LESSON 3.  IMPROVING A MID BAND ANSWER, LIVE</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000" b="1">
                <a:solidFill>
                  <a:srgbClr val="111111"/>
                </a:solidFill>
                <a:latin typeface="Arial"/>
              </a:rPr>
              <a:t>By the end of this lesson you will be able to:</a:t>
            </a:r>
          </a:p>
          <a:p>
            <a:pPr algn="l">
              <a:spcAft>
                <a:spcPts val="700"/>
              </a:spcAft>
            </a:pPr>
            <a:r>
              <a:rPr sz="2000" b="0">
                <a:solidFill>
                  <a:srgbClr val="111111"/>
                </a:solidFill>
                <a:latin typeface="Arial"/>
              </a:rPr>
              <a:t>1.  Identify the sentences in a mid band answer that earn nothing.</a:t>
            </a:r>
          </a:p>
          <a:p>
            <a:pPr algn="l">
              <a:spcAft>
                <a:spcPts val="700"/>
              </a:spcAft>
            </a:pPr>
            <a:r>
              <a:rPr sz="2000" b="0">
                <a:solidFill>
                  <a:srgbClr val="111111"/>
                </a:solidFill>
                <a:latin typeface="Arial"/>
              </a:rPr>
              <a:t>2.  Rewrite a generic point so that it uses evidence from the case.</a:t>
            </a:r>
          </a:p>
          <a:p>
            <a:pPr algn="l">
              <a:spcAft>
                <a:spcPts val="700"/>
              </a:spcAft>
            </a:pPr>
            <a:r>
              <a:rPr sz="2000" b="0">
                <a:solidFill>
                  <a:srgbClr val="111111"/>
                </a:solidFill>
                <a:latin typeface="Arial"/>
              </a:rPr>
              <a:t>3.  Replace a summary ending with a condition.</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Objectives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   LESSON 3</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200" b="0">
                <a:solidFill>
                  <a:srgbClr val="111111"/>
                </a:solidFill>
                <a:latin typeface="Arial"/>
              </a:rPr>
              <a:t>1.  Name two things that make a sentence earn nothing.</a:t>
            </a:r>
          </a:p>
          <a:p>
            <a:pPr algn="l">
              <a:spcAft>
                <a:spcPts val="700"/>
              </a:spcAft>
            </a:pPr>
            <a:r>
              <a:rPr sz="2200" b="0">
                <a:solidFill>
                  <a:srgbClr val="111111"/>
                </a:solidFill>
                <a:latin typeface="Arial"/>
              </a:rPr>
              <a:t>2.  What is wrong with ending on it depends?</a:t>
            </a:r>
          </a:p>
          <a:p>
            <a:pPr algn="l">
              <a:spcAft>
                <a:spcPts val="700"/>
              </a:spcAft>
            </a:pPr>
            <a:r>
              <a:rPr sz="2200" b="0">
                <a:solidFill>
                  <a:srgbClr val="111111"/>
                </a:solidFill>
                <a:latin typeface="Arial"/>
              </a:rPr>
              <a:t>3.  What does a condition sentence do?</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Five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ANSWERS   |   LESSON 3</a:t>
            </a:r>
          </a:p>
        </p:txBody>
      </p:sp>
      <p:sp>
        <p:nvSpPr>
          <p:cNvPr id="4" name="Rectangle 3"/>
          <p:cNvSpPr/>
          <p:nvPr/>
        </p:nvSpPr>
        <p:spPr>
          <a:xfrm>
            <a:off x="640080" y="1234440"/>
            <a:ext cx="10911535" cy="44805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1700" b="1">
                <a:solidFill>
                  <a:srgbClr val="111111"/>
                </a:solidFill>
                <a:latin typeface="Arial"/>
              </a:rPr>
              <a:t>1.  Restating the question, or being true of any business anywhere.</a:t>
            </a:r>
          </a:p>
          <a:p>
            <a:pPr algn="l">
              <a:spcAft>
                <a:spcPts val="700"/>
              </a:spcAft>
            </a:pPr>
            <a:r>
              <a:rPr sz="1700" b="1">
                <a:solidFill>
                  <a:srgbClr val="111111"/>
                </a:solidFill>
                <a:latin typeface="Arial"/>
              </a:rPr>
              <a:t>2.  No decision and no criterion, so nothing is being weighed.</a:t>
            </a:r>
          </a:p>
          <a:p>
            <a:pPr algn="l">
              <a:spcAft>
                <a:spcPts val="700"/>
              </a:spcAft>
            </a:pPr>
            <a:r>
              <a:rPr sz="1700" b="1">
                <a:solidFill>
                  <a:srgbClr val="111111"/>
                </a:solidFill>
                <a:latin typeface="Arial"/>
              </a:rPr>
              <a:t>3.  Names what would change the decision, which shows the judgement was reasoned.</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Mark in green.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LESSON 4.  TIMED PRACTICE AND TAGGED PEER MARKING</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000" b="1">
                <a:solidFill>
                  <a:srgbClr val="111111"/>
                </a:solidFill>
                <a:latin typeface="Arial"/>
              </a:rPr>
              <a:t>By the end of this lesson you will be able to:</a:t>
            </a:r>
          </a:p>
          <a:p>
            <a:pPr algn="l">
              <a:spcAft>
                <a:spcPts val="700"/>
              </a:spcAft>
            </a:pPr>
            <a:r>
              <a:rPr sz="2000" b="0">
                <a:solidFill>
                  <a:srgbClr val="111111"/>
                </a:solidFill>
                <a:latin typeface="Arial"/>
              </a:rPr>
              <a:t>1.  Plan and write a timed evaluative answer using the five step method.</a:t>
            </a:r>
          </a:p>
          <a:p>
            <a:pPr algn="l">
              <a:spcAft>
                <a:spcPts val="700"/>
              </a:spcAft>
            </a:pPr>
            <a:r>
              <a:rPr sz="2000" b="0">
                <a:solidFill>
                  <a:srgbClr val="111111"/>
                </a:solidFill>
                <a:latin typeface="Arial"/>
              </a:rPr>
              <a:t>2.  Tag a peer's answer objective by objective.</a:t>
            </a:r>
          </a:p>
          <a:p>
            <a:pPr algn="l">
              <a:spcAft>
                <a:spcPts val="700"/>
              </a:spcAft>
            </a:pPr>
            <a:r>
              <a:rPr sz="2000" b="0">
                <a:solidFill>
                  <a:srgbClr val="111111"/>
                </a:solidFill>
                <a:latin typeface="Arial"/>
              </a:rPr>
              <a:t>3.  Give one specific improvement rather than a general comment.</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Objectives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   LESSON 4</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200" b="0">
                <a:solidFill>
                  <a:srgbClr val="111111"/>
                </a:solidFill>
                <a:latin typeface="Arial"/>
              </a:rPr>
              <a:t>1.  State the five steps of the method from memory.</a:t>
            </a:r>
          </a:p>
          <a:p>
            <a:pPr algn="l">
              <a:spcAft>
                <a:spcPts val="700"/>
              </a:spcAft>
            </a:pPr>
            <a:r>
              <a:rPr sz="2200" b="0">
                <a:solidFill>
                  <a:srgbClr val="111111"/>
                </a:solidFill>
                <a:latin typeface="Arial"/>
              </a:rPr>
              <a:t>2.  How early should the decision appear?</a:t>
            </a:r>
          </a:p>
          <a:p>
            <a:pPr algn="l">
              <a:spcAft>
                <a:spcPts val="700"/>
              </a:spcAft>
            </a:pPr>
            <a:r>
              <a:rPr sz="2200" b="0">
                <a:solidFill>
                  <a:srgbClr val="111111"/>
                </a:solidFill>
                <a:latin typeface="Arial"/>
              </a:rPr>
              <a:t>3.  What is the last sentence of a strong answer?</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Five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6692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66928"/>
          </a:xfrm>
          <a:prstGeom prst="rect">
            <a:avLst/>
          </a:prstGeom>
          <a:noFill/>
        </p:spPr>
        <p:txBody>
          <a:bodyPr wrap="square">
            <a:spAutoFit/>
          </a:bodyPr>
          <a:lstStyle/>
          <a:p>
            <a:pPr algn="l">
              <a:spcAft>
                <a:spcPts val="700"/>
              </a:spcAft>
            </a:pPr>
            <a:r>
              <a:rPr sz="2200" b="1">
                <a:solidFill>
                  <a:srgbClr val="FFFFFF"/>
                </a:solidFill>
                <a:latin typeface="Arial"/>
              </a:rPr>
              <a:t>DO NOW ANSWERS   |   LESSON 4</a:t>
            </a:r>
          </a:p>
        </p:txBody>
      </p:sp>
      <p:sp>
        <p:nvSpPr>
          <p:cNvPr id="4" name="Rectangle 3"/>
          <p:cNvSpPr/>
          <p:nvPr/>
        </p:nvSpPr>
        <p:spPr>
          <a:xfrm>
            <a:off x="640080" y="1234440"/>
            <a:ext cx="10911535" cy="4480560"/>
          </a:xfrm>
          <a:prstGeom prst="rect">
            <a:avLst/>
          </a:prstGeom>
          <a:no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1700" b="1">
                <a:solidFill>
                  <a:srgbClr val="111111"/>
                </a:solidFill>
                <a:latin typeface="Arial"/>
              </a:rPr>
              <a:t>1.  Decide first. Pick the criterion. Build the strongest opposing case. Weigh with a number. Attach the condition.</a:t>
            </a:r>
          </a:p>
          <a:p>
            <a:pPr algn="l">
              <a:spcAft>
                <a:spcPts val="700"/>
              </a:spcAft>
            </a:pPr>
            <a:r>
              <a:rPr sz="1700" b="1">
                <a:solidFill>
                  <a:srgbClr val="111111"/>
                </a:solidFill>
                <a:latin typeface="Arial"/>
              </a:rPr>
              <a:t>2.  In the first few sentences.</a:t>
            </a:r>
          </a:p>
          <a:p>
            <a:pPr algn="l">
              <a:spcAft>
                <a:spcPts val="700"/>
              </a:spcAft>
            </a:pPr>
            <a:r>
              <a:rPr sz="1700" b="1">
                <a:solidFill>
                  <a:srgbClr val="111111"/>
                </a:solidFill>
                <a:latin typeface="Arial"/>
              </a:rPr>
              <a:t>3.  The condition, or the action that follows from the decision.</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Mark in green.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54864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48056"/>
            <a:ext cx="10911535" cy="548640"/>
          </a:xfrm>
          <a:prstGeom prst="rect">
            <a:avLst/>
          </a:prstGeom>
          <a:noFill/>
        </p:spPr>
        <p:txBody>
          <a:bodyPr wrap="square">
            <a:spAutoFit/>
          </a:bodyPr>
          <a:lstStyle/>
          <a:p>
            <a:pPr algn="l">
              <a:spcAft>
                <a:spcPts val="700"/>
              </a:spcAft>
            </a:pPr>
            <a:r>
              <a:rPr sz="2200" b="1">
                <a:solidFill>
                  <a:srgbClr val="FFFFFF"/>
                </a:solidFill>
                <a:latin typeface="Arial"/>
              </a:rPr>
              <a:t>THESE SLIDES ARE EDITABLE</a:t>
            </a:r>
          </a:p>
        </p:txBody>
      </p:sp>
      <p:sp>
        <p:nvSpPr>
          <p:cNvPr id="4" name="Rectangle 3"/>
          <p:cNvSpPr/>
          <p:nvPr/>
        </p:nvSpPr>
        <p:spPr>
          <a:xfrm>
            <a:off x="640080" y="1234440"/>
            <a:ext cx="10911535" cy="4480560"/>
          </a:xfrm>
          <a:prstGeom prst="rect">
            <a:avLst/>
          </a:prstGeom>
          <a:solidFill>
            <a:srgbClr val="F2F2F2"/>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62895" cy="4023360"/>
          </a:xfrm>
          <a:prstGeom prst="rect">
            <a:avLst/>
          </a:prstGeom>
          <a:noFill/>
        </p:spPr>
        <p:txBody>
          <a:bodyPr wrap="square">
            <a:spAutoFit/>
          </a:bodyPr>
          <a:lstStyle/>
          <a:p>
            <a:pPr algn="l">
              <a:spcAft>
                <a:spcPts val="700"/>
              </a:spcAft>
            </a:pPr>
            <a:r>
              <a:rPr sz="2200" b="1">
                <a:solidFill>
                  <a:srgbClr val="111111"/>
                </a:solidFill>
                <a:latin typeface="Arial"/>
              </a:rPr>
              <a:t>Nothing here is an image. Every slide is text you can change.</a:t>
            </a:r>
          </a:p>
          <a:p>
            <a:pPr algn="l">
              <a:spcAft>
                <a:spcPts val="700"/>
              </a:spcAft>
            </a:pPr>
            <a:r>
              <a:rPr sz="1800" b="0">
                <a:solidFill>
                  <a:srgbClr val="111111"/>
                </a:solidFill>
                <a:latin typeface="Arial"/>
              </a:rPr>
              <a:t>Swap Verity Coffee for a business your class knows. The annotations still work, because they describe what a sentence does.</a:t>
            </a:r>
          </a:p>
          <a:p>
            <a:pPr algn="l">
              <a:spcAft>
                <a:spcPts val="700"/>
              </a:spcAft>
            </a:pPr>
            <a:r>
              <a:rPr sz="1800" b="0">
                <a:solidFill>
                  <a:srgbClr val="111111"/>
                </a:solidFill>
                <a:latin typeface="Arial"/>
              </a:rPr>
              <a:t>The Word file contains all three annotated models and the mid band rewrite as editable text.</a:t>
            </a:r>
          </a:p>
        </p:txBody>
      </p:sp>
      <p:sp>
        <p:nvSpPr>
          <p:cNvPr id="6" name="TextBox 5"/>
          <p:cNvSpPr txBox="1"/>
          <p:nvPr/>
        </p:nvSpPr>
        <p:spPr>
          <a:xfrm>
            <a:off x="457200" y="6400800"/>
            <a:ext cx="11277295" cy="365760"/>
          </a:xfrm>
          <a:prstGeom prst="rect">
            <a:avLst/>
          </a:prstGeom>
          <a:noFill/>
        </p:spPr>
        <p:txBody>
          <a:bodyPr wrap="square">
            <a:spAutoFit/>
          </a:bodyPr>
          <a:lstStyle/>
          <a:p>
            <a:pPr algn="l">
              <a:spcAft>
                <a:spcPts val="700"/>
              </a:spcAft>
            </a:pPr>
            <a:r>
              <a:rPr sz="1050" b="0">
                <a:solidFill>
                  <a:srgbClr val="6B6B6B"/>
                </a:solidFill>
                <a:latin typeface="Arial"/>
              </a:rPr>
              <a:t>Author: Sakari Laajoki, TBS Education Ltd Oy (company number 3614159-3)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